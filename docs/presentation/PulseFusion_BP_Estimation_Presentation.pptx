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BD506A-FCF9-40A8-B625-EEFB3D616323}">
  <a:tblStyle styleId="{B2BD506A-FCF9-40A8-B625-EEFB3D61632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Robo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bold.fntdata"/><Relationship Id="rId6" Type="http://schemas.openxmlformats.org/officeDocument/2006/relationships/notesMaster" Target="notesMasters/notesMaster1.xml"/><Relationship Id="rId18"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Welcome to the presentation on PulseFusion: Dual-Site Cuffless Blood Pressure Estimation. This deck walks through the clinical problem of single-site PPG template collapse, our multi-cohort training pipeline in Google Colab (PulseDB v2.0, PhysioNet, VitalDB), the physics-informed HRVP-PINN + DualStreamTCN-XL architecture, clinical validation results, edge INT8 quantization for the Xiaomi Poco M6 Pro 5G, and scientific citations.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slide_179181940367313380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slide_179181940367313380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2 explains why single-site optical blood pressure models fail in clinical practice: without transit time and a known transmural pressure perturbation, deep networks suffer from regression-to-the-mean template collapse. PulseFusion combines dual-site optical capture with a 6-axis IMU hydrostatic perturbation maneuver.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slide_179181940367313380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slide_179181940367313380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3 details the four clinical cohorts ingested into our Google Colab pipeline: PulseDB v2.0 MIMIC-III and VitalDB HDF5 records from Google Drive, PhysioNet Multi-Site PTT-PPG v1.1.0, and the 4-stage hydrostatic elevation cohort. All 441 clipped optical frames were reconstructed with PCHIP splines and partitioned strictly by subject ID before fitting any scalers.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slide_179181940367313380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slide_179181940367313380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4 illustrates our HRVP-PINN biomechanical feature engine alongside the 4-panel Exploratory Data Analysis figure generated in Google Colab. The 6D anchor vector provides the neural network with explicit physical quantities: ePWV, Delta PTT, hydrostatic pressure shift, compliance slope, elastic modulus E0, and stiffness exponent alpha.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slide_179181940367313380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slide_179181940367313380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5 presents the DualStreamTCN-XL architecture (1,479,682 parameters) and the Tripartite Anti-Collapse Loss. By combining Huber loss with a 0.40 Pearson correlation penalty and a 0.25 variance-preservation penalty, the network cannot collapse toward the population mean.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slide_179181940367367840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slide_179181940367367840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6 displays the actual training convergence curves from our Google Colab execution. Notice how both SBP and DBP validation MAE cross below the AAMI clinical targets (5.0 and 3.5 mmHg) by Epoch 15, while Pearson r reaches 0.980.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slide_179181940367367840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slide_179181940367367840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7 presents the master model comparison on the 100 unseen test segments across 19 unseen subjects. All four baselines fail ISO 81060-2, whereas our proposed HRVP-PINN + DS-TCN-XL achieves 3.74 mmHg SBP MAE, 3.15 mmHg DBP MAE, 0.9829 Pearson correlation, and BHS Grade 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slide_179181940367471760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slide_179181940367471760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8 shows the Bland-Altman clinical agreement plots, identity regression scatter, and permutation sensitivity analysis alongside our subpopulation slice audit across all clinical stages and dataset domains.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slide_179181940367471760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slide_179181940367471760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9 details the symmetric INT8 quantization and hardware stress test for the Xiaomi Poco M6 Pro 5G (Qualcomm Snapdragon 4 Gen 2 / SM4450). Both DS-TCN-XL (1.44 MB INT8) and DS-TCN-Compact (225.5 KB INT8) achieve &gt;46 dB SQNR, 0.00 mmHg SBP drift, 9.60 MB peak RAM, and zero dynamic heap allocations across 1,000 streaming runs.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slide_179181940367471760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slide_179181940367471760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10 summarizes the Cloud Lakehouse and BigQuery AI/ML integration in Section 10 of the notebook, leveraging ML.DESCRIBE_DATA, AI.DETECT_ANOMALIES, AI.KEY_DRIVERS, and TimesFM AI.FORECAST.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slide_179181940367471760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slide_179181940367471760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 11 provides the complete bibliography and regulatory citations backing our datasets (PulseDB v2.0, PhysioNet PTT-PPG v1.1.0, VitalDB, MIMIC-III), vascular biomechanics (Moens-Korteweg and Hughes 1979), and clinical validation protocols (ISO 81060-2, IEEE 1708, and BHS Grade 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53" name="Shape 53"/>
        <p:cNvGrpSpPr/>
        <p:nvPr/>
      </p:nvGrpSpPr>
      <p:grpSpPr>
        <a:xfrm>
          <a:off x="0" y="0"/>
          <a:ext cx="0" cy="0"/>
          <a:chOff x="0" y="0"/>
          <a:chExt cx="0" cy="0"/>
        </a:xfrm>
      </p:grpSpPr>
      <p:sp>
        <p:nvSpPr>
          <p:cNvPr id="54" name="Google Shape;54;p13"/>
          <p:cNvSpPr/>
          <p:nvPr/>
        </p:nvSpPr>
        <p:spPr>
          <a:xfrm>
            <a:off x="0" y="0"/>
            <a:ext cx="203100"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698500" y="698500"/>
            <a:ext cx="7746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rgbClr val="02C39A"/>
                </a:solidFill>
                <a:latin typeface="Roboto"/>
                <a:ea typeface="Roboto"/>
                <a:cs typeface="Roboto"/>
                <a:sym typeface="Roboto"/>
              </a:rPr>
              <a:t>PULSEFUSION CLINICAL AI &amp; EDGE ML</a:t>
            </a:r>
            <a:endParaRPr b="1" sz="1300">
              <a:solidFill>
                <a:srgbClr val="02C39A"/>
              </a:solidFill>
              <a:latin typeface="Roboto"/>
              <a:ea typeface="Roboto"/>
              <a:cs typeface="Roboto"/>
              <a:sym typeface="Roboto"/>
            </a:endParaRPr>
          </a:p>
        </p:txBody>
      </p:sp>
      <p:sp>
        <p:nvSpPr>
          <p:cNvPr id="56" name="Google Shape;56;p13"/>
          <p:cNvSpPr txBox="1"/>
          <p:nvPr/>
        </p:nvSpPr>
        <p:spPr>
          <a:xfrm>
            <a:off x="698500" y="1143000"/>
            <a:ext cx="7746900" cy="14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800">
                <a:solidFill>
                  <a:srgbClr val="FFFFFF"/>
                </a:solidFill>
                <a:latin typeface="Roboto"/>
                <a:ea typeface="Roboto"/>
                <a:cs typeface="Roboto"/>
                <a:sym typeface="Roboto"/>
              </a:rPr>
              <a:t>Dual-Site Cuffless Blood Pressure</a:t>
            </a:r>
            <a:endParaRPr b="1" sz="3800">
              <a:solidFill>
                <a:srgbClr val="FFFFFF"/>
              </a:solidFill>
              <a:latin typeface="Roboto"/>
              <a:ea typeface="Roboto"/>
              <a:cs typeface="Roboto"/>
              <a:sym typeface="Roboto"/>
            </a:endParaRPr>
          </a:p>
          <a:p>
            <a:pPr indent="0" lvl="0" marL="0" rtl="0" algn="l">
              <a:spcBef>
                <a:spcPts val="0"/>
              </a:spcBef>
              <a:spcAft>
                <a:spcPts val="0"/>
              </a:spcAft>
              <a:buNone/>
            </a:pPr>
            <a:r>
              <a:rPr b="1" lang="en-GB" sz="3800">
                <a:solidFill>
                  <a:srgbClr val="FFFFFF"/>
                </a:solidFill>
                <a:latin typeface="Roboto"/>
                <a:ea typeface="Roboto"/>
                <a:cs typeface="Roboto"/>
                <a:sym typeface="Roboto"/>
              </a:rPr>
              <a:t>Estimation on Edge Hardware</a:t>
            </a:r>
            <a:endParaRPr b="1" sz="3800">
              <a:solidFill>
                <a:srgbClr val="FFFFFF"/>
              </a:solidFill>
              <a:latin typeface="Roboto"/>
              <a:ea typeface="Roboto"/>
              <a:cs typeface="Roboto"/>
              <a:sym typeface="Roboto"/>
            </a:endParaRPr>
          </a:p>
        </p:txBody>
      </p:sp>
      <p:sp>
        <p:nvSpPr>
          <p:cNvPr id="57" name="Google Shape;57;p13"/>
          <p:cNvSpPr txBox="1"/>
          <p:nvPr/>
        </p:nvSpPr>
        <p:spPr>
          <a:xfrm>
            <a:off x="698500" y="2730500"/>
            <a:ext cx="7746900" cy="736500"/>
          </a:xfrm>
          <a:prstGeom prst="rect">
            <a:avLst/>
          </a:prstGeom>
          <a:no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lang="en-GB" sz="1500">
                <a:solidFill>
                  <a:srgbClr val="CADCFC"/>
                </a:solidFill>
                <a:latin typeface="Roboto"/>
                <a:ea typeface="Roboto"/>
                <a:cs typeface="Roboto"/>
                <a:sym typeface="Roboto"/>
              </a:rPr>
              <a:t>Physics-Informed Hydrostatic-Respiratory Vasomotor Perturbation (HRVP-PINN)</a:t>
            </a:r>
            <a:endParaRPr sz="1500">
              <a:solidFill>
                <a:srgbClr val="CADCFC"/>
              </a:solidFill>
              <a:latin typeface="Roboto"/>
              <a:ea typeface="Roboto"/>
              <a:cs typeface="Roboto"/>
              <a:sym typeface="Roboto"/>
            </a:endParaRPr>
          </a:p>
          <a:p>
            <a:pPr indent="0" lvl="0" marL="0" rtl="0" algn="l">
              <a:lnSpc>
                <a:spcPct val="135000"/>
              </a:lnSpc>
              <a:spcBef>
                <a:spcPts val="0"/>
              </a:spcBef>
              <a:spcAft>
                <a:spcPts val="0"/>
              </a:spcAft>
              <a:buNone/>
            </a:pPr>
            <a:r>
              <a:rPr lang="en-GB" sz="1500">
                <a:solidFill>
                  <a:srgbClr val="CADCFC"/>
                </a:solidFill>
                <a:latin typeface="Roboto"/>
                <a:ea typeface="Roboto"/>
                <a:cs typeface="Roboto"/>
                <a:sym typeface="Roboto"/>
              </a:rPr>
              <a:t>&amp; Anti-Collapse Dual-Stream TCN Trained on Multi-Center Clinical Waveforms</a:t>
            </a:r>
            <a:endParaRPr sz="1500">
              <a:solidFill>
                <a:srgbClr val="CADCFC"/>
              </a:solidFill>
              <a:latin typeface="Roboto"/>
              <a:ea typeface="Roboto"/>
              <a:cs typeface="Roboto"/>
              <a:sym typeface="Roboto"/>
            </a:endParaRPr>
          </a:p>
        </p:txBody>
      </p:sp>
      <p:sp>
        <p:nvSpPr>
          <p:cNvPr id="58" name="Google Shape;58;p13"/>
          <p:cNvSpPr/>
          <p:nvPr/>
        </p:nvSpPr>
        <p:spPr>
          <a:xfrm>
            <a:off x="698500" y="3708400"/>
            <a:ext cx="7746900" cy="25500"/>
          </a:xfrm>
          <a:prstGeom prst="rect">
            <a:avLst/>
          </a:prstGeom>
          <a:solidFill>
            <a:srgbClr val="3240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txBox="1"/>
          <p:nvPr/>
        </p:nvSpPr>
        <p:spPr>
          <a:xfrm>
            <a:off x="698500" y="3937000"/>
            <a:ext cx="7746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8899BB"/>
                </a:solidFill>
                <a:latin typeface="Roboto"/>
                <a:ea typeface="Roboto"/>
                <a:cs typeface="Roboto"/>
                <a:sym typeface="Roboto"/>
              </a:rPr>
              <a:t>Target Hardware: Xiaomi Poco M6 Pro 5G (Snapdragon 4 Gen 2 / SM4450)   |   Standards: AAMI / ISO 81060-2 &amp; BHS Grade A</a:t>
            </a:r>
            <a:endParaRPr sz="1100">
              <a:solidFill>
                <a:srgbClr val="8899BB"/>
              </a:solidFill>
              <a:latin typeface="Roboto"/>
              <a:ea typeface="Roboto"/>
              <a:cs typeface="Roboto"/>
              <a:sym typeface="Roboto"/>
            </a:endParaRPr>
          </a:p>
        </p:txBody>
      </p:sp>
      <p:sp>
        <p:nvSpPr>
          <p:cNvPr descr="Morphing top progress bar" id="60" name="!!morph_progress" title="!!morph_progress"/>
          <p:cNvSpPr/>
          <p:nvPr/>
        </p:nvSpPr>
        <p:spPr>
          <a:xfrm>
            <a:off x="152400" y="0"/>
            <a:ext cx="8178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61" name="!!morph_indicator" title="!!morph_indicator"/>
          <p:cNvSpPr/>
          <p:nvPr/>
        </p:nvSpPr>
        <p:spPr>
          <a:xfrm>
            <a:off x="0" y="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ing part from Slide 1 to Slide 2" id="62" name="!!morph_bridge_1" title="!!morph_bridge_1"/>
          <p:cNvSpPr txBox="1"/>
          <p:nvPr/>
        </p:nvSpPr>
        <p:spPr>
          <a:xfrm>
            <a:off x="6350000" y="4864100"/>
            <a:ext cx="2412900" cy="2286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0F172A"/>
                </a:solidFill>
                <a:latin typeface="Roboto"/>
                <a:ea typeface="Roboto"/>
                <a:cs typeface="Roboto"/>
                <a:sym typeface="Roboto"/>
              </a:rPr>
              <a:t>Next: 02. Hydrostatic Trap &amp; Solution ↗</a:t>
            </a:r>
            <a:endParaRPr b="1" sz="750">
              <a:solidFill>
                <a:srgbClr val="0F172A"/>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66" name="Shape 66"/>
        <p:cNvGrpSpPr/>
        <p:nvPr/>
      </p:nvGrpSpPr>
      <p:grpSpPr>
        <a:xfrm>
          <a:off x="0" y="0"/>
          <a:ext cx="0" cy="0"/>
          <a:chOff x="0" y="0"/>
          <a:chExt cx="0" cy="0"/>
        </a:xfrm>
      </p:grpSpPr>
      <p:sp>
        <p:nvSpPr>
          <p:cNvPr id="67" name="Google Shape;67;p14"/>
          <p:cNvSpPr/>
          <p:nvPr/>
        </p:nvSpPr>
        <p:spPr>
          <a:xfrm>
            <a:off x="0" y="0"/>
            <a:ext cx="152400" cy="51435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txBox="1"/>
          <p:nvPr/>
        </p:nvSpPr>
        <p:spPr>
          <a:xfrm>
            <a:off x="444500" y="228600"/>
            <a:ext cx="83184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1E2761"/>
                </a:solidFill>
                <a:latin typeface="Roboto"/>
                <a:ea typeface="Roboto"/>
                <a:cs typeface="Roboto"/>
                <a:sym typeface="Roboto"/>
              </a:rPr>
              <a:t>Why Single-Site Optical BP Fails &amp; How PulseFusion Solves It</a:t>
            </a:r>
            <a:endParaRPr b="1" sz="2000">
              <a:solidFill>
                <a:srgbClr val="1E2761"/>
              </a:solidFill>
              <a:latin typeface="Roboto"/>
              <a:ea typeface="Roboto"/>
              <a:cs typeface="Roboto"/>
              <a:sym typeface="Roboto"/>
            </a:endParaRPr>
          </a:p>
        </p:txBody>
      </p:sp>
      <p:sp>
        <p:nvSpPr>
          <p:cNvPr id="69" name="Google Shape;69;p14"/>
          <p:cNvSpPr txBox="1"/>
          <p:nvPr/>
        </p:nvSpPr>
        <p:spPr>
          <a:xfrm>
            <a:off x="444500" y="736600"/>
            <a:ext cx="83184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4A5568"/>
                </a:solidFill>
                <a:latin typeface="Roboto"/>
                <a:ea typeface="Roboto"/>
                <a:cs typeface="Roboto"/>
                <a:sym typeface="Roboto"/>
              </a:rPr>
              <a:t>Standard single-camera PPG models memorize population averages instead of measuring vascular physics.</a:t>
            </a:r>
            <a:endParaRPr sz="1300">
              <a:solidFill>
                <a:srgbClr val="4A5568"/>
              </a:solidFill>
              <a:latin typeface="Roboto"/>
              <a:ea typeface="Roboto"/>
              <a:cs typeface="Roboto"/>
              <a:sym typeface="Roboto"/>
            </a:endParaRPr>
          </a:p>
        </p:txBody>
      </p:sp>
      <p:sp>
        <p:nvSpPr>
          <p:cNvPr id="70" name="Google Shape;70;p14"/>
          <p:cNvSpPr txBox="1"/>
          <p:nvPr/>
        </p:nvSpPr>
        <p:spPr>
          <a:xfrm>
            <a:off x="444500" y="1206500"/>
            <a:ext cx="2603400" cy="4827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1. The Challenge: Template Collapse</a:t>
            </a:r>
            <a:endParaRPr b="1">
              <a:solidFill>
                <a:srgbClr val="FFFFFF"/>
              </a:solidFill>
              <a:latin typeface="Roboto"/>
              <a:ea typeface="Roboto"/>
              <a:cs typeface="Roboto"/>
              <a:sym typeface="Roboto"/>
            </a:endParaRPr>
          </a:p>
        </p:txBody>
      </p:sp>
      <p:sp>
        <p:nvSpPr>
          <p:cNvPr id="71" name="Google Shape;71;p14"/>
          <p:cNvSpPr txBox="1"/>
          <p:nvPr/>
        </p:nvSpPr>
        <p:spPr>
          <a:xfrm>
            <a:off x="444500" y="1689100"/>
            <a:ext cx="2603400" cy="2540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Single-site PPG lacks an absolute pressure reference</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Local smooth-muscle tone alters pulse amplitude independently of BP</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Standard MSE models collapse to mean BP (Var Ratio = 0.002)</a:t>
            </a:r>
            <a:endParaRPr sz="1200">
              <a:solidFill>
                <a:srgbClr val="1A1A2E"/>
              </a:solidFill>
              <a:latin typeface="Roboto"/>
              <a:ea typeface="Roboto"/>
              <a:cs typeface="Roboto"/>
              <a:sym typeface="Roboto"/>
            </a:endParaRPr>
          </a:p>
        </p:txBody>
      </p:sp>
      <p:sp>
        <p:nvSpPr>
          <p:cNvPr id="72" name="Google Shape;72;p14"/>
          <p:cNvSpPr txBox="1"/>
          <p:nvPr/>
        </p:nvSpPr>
        <p:spPr>
          <a:xfrm>
            <a:off x="3263900" y="1206500"/>
            <a:ext cx="2603400" cy="4827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2. Dual-Site Optical Transit (PTT)</a:t>
            </a:r>
            <a:endParaRPr b="1">
              <a:solidFill>
                <a:srgbClr val="FFFFFF"/>
              </a:solidFill>
              <a:latin typeface="Roboto"/>
              <a:ea typeface="Roboto"/>
              <a:cs typeface="Roboto"/>
              <a:sym typeface="Roboto"/>
            </a:endParaRPr>
          </a:p>
        </p:txBody>
      </p:sp>
      <p:sp>
        <p:nvSpPr>
          <p:cNvPr id="73" name="Google Shape;73;p14"/>
          <p:cNvSpPr txBox="1"/>
          <p:nvPr/>
        </p:nvSpPr>
        <p:spPr>
          <a:xfrm>
            <a:off x="3263900" y="1689100"/>
            <a:ext cx="2603400" cy="2540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Stream A (Rear Finger PPG): High-SNR dicrotic notch morphology</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Stream B (Front Facial rPPG): Proximal pulse arrival timing</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Sub-frame cubic spline tangent foot detector (&lt;= 0.75 ms error)</a:t>
            </a:r>
            <a:endParaRPr sz="1200">
              <a:solidFill>
                <a:srgbClr val="1A1A2E"/>
              </a:solidFill>
              <a:latin typeface="Roboto"/>
              <a:ea typeface="Roboto"/>
              <a:cs typeface="Roboto"/>
              <a:sym typeface="Roboto"/>
            </a:endParaRPr>
          </a:p>
        </p:txBody>
      </p:sp>
      <p:sp>
        <p:nvSpPr>
          <p:cNvPr id="74" name="Google Shape;74;p14"/>
          <p:cNvSpPr txBox="1"/>
          <p:nvPr/>
        </p:nvSpPr>
        <p:spPr>
          <a:xfrm>
            <a:off x="6096000" y="1206500"/>
            <a:ext cx="2603400" cy="4827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3. Hydrostatic PINN Calibration</a:t>
            </a:r>
            <a:endParaRPr b="1">
              <a:solidFill>
                <a:srgbClr val="FFFFFF"/>
              </a:solidFill>
              <a:latin typeface="Roboto"/>
              <a:ea typeface="Roboto"/>
              <a:cs typeface="Roboto"/>
              <a:sym typeface="Roboto"/>
            </a:endParaRPr>
          </a:p>
        </p:txBody>
      </p:sp>
      <p:sp>
        <p:nvSpPr>
          <p:cNvPr id="75" name="Google Shape;75;p14"/>
          <p:cNvSpPr txBox="1"/>
          <p:nvPr/>
        </p:nvSpPr>
        <p:spPr>
          <a:xfrm>
            <a:off x="6096000" y="1689100"/>
            <a:ext cx="2603400" cy="2540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Raising or lowering the hand (+/-35 cm) shifts pressure by +/-27.16 mmHg</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6-axis IMU tracks vertical height shift (Delta P = -rho * g * Delta h)</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Solves Moens-Korteweg &amp; Hughes arterial stiffness without a cuff</a:t>
            </a:r>
            <a:endParaRPr sz="1200">
              <a:solidFill>
                <a:srgbClr val="1A1A2E"/>
              </a:solidFill>
              <a:latin typeface="Roboto"/>
              <a:ea typeface="Roboto"/>
              <a:cs typeface="Roboto"/>
              <a:sym typeface="Roboto"/>
            </a:endParaRPr>
          </a:p>
        </p:txBody>
      </p:sp>
      <p:sp>
        <p:nvSpPr>
          <p:cNvPr id="76" name="Google Shape;76;p14"/>
          <p:cNvSpPr txBox="1"/>
          <p:nvPr/>
        </p:nvSpPr>
        <p:spPr>
          <a:xfrm>
            <a:off x="444500" y="4445000"/>
            <a:ext cx="8255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rgbClr val="028090"/>
                </a:solidFill>
                <a:latin typeface="Roboto"/>
                <a:ea typeface="Roboto"/>
                <a:cs typeface="Roboto"/>
                <a:sym typeface="Roboto"/>
              </a:rPr>
              <a:t>Key Takeaway: Combining dual-site Pulse Transit Time (PTT) with IMU hydrostatic perturbation makes cuffless BP physically observable.</a:t>
            </a:r>
            <a:endParaRPr b="1" sz="1200">
              <a:solidFill>
                <a:srgbClr val="028090"/>
              </a:solidFill>
              <a:latin typeface="Roboto"/>
              <a:ea typeface="Roboto"/>
              <a:cs typeface="Roboto"/>
              <a:sym typeface="Roboto"/>
            </a:endParaRPr>
          </a:p>
        </p:txBody>
      </p:sp>
      <p:sp>
        <p:nvSpPr>
          <p:cNvPr descr="Morphing top progress bar" id="77" name="!!morph_progress" title="!!morph_progress"/>
          <p:cNvSpPr/>
          <p:nvPr/>
        </p:nvSpPr>
        <p:spPr>
          <a:xfrm>
            <a:off x="152400" y="0"/>
            <a:ext cx="16344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78" name="!!morph_indicator" title="!!morph_indicator"/>
          <p:cNvSpPr/>
          <p:nvPr/>
        </p:nvSpPr>
        <p:spPr>
          <a:xfrm>
            <a:off x="0" y="46736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1 to Slide 2" id="79" name="!!morph_bridge_1" title="!!morph_bridge_1"/>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02. Hydrostatic Trap &amp; Solution</a:t>
            </a:r>
            <a:endParaRPr b="1" sz="750">
              <a:solidFill>
                <a:srgbClr val="FFFFFF"/>
              </a:solidFill>
              <a:latin typeface="Roboto"/>
              <a:ea typeface="Roboto"/>
              <a:cs typeface="Roboto"/>
              <a:sym typeface="Roboto"/>
            </a:endParaRPr>
          </a:p>
        </p:txBody>
      </p:sp>
      <p:sp>
        <p:nvSpPr>
          <p:cNvPr descr="Shifting part from Slide 2 to Slide 3" id="80" name="!!morph_bridge_2" title="!!morph_bridge_2"/>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03. Multi-Cohort Data (N=120)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84" name="Shape 84"/>
        <p:cNvGrpSpPr/>
        <p:nvPr/>
      </p:nvGrpSpPr>
      <p:grpSpPr>
        <a:xfrm>
          <a:off x="0" y="0"/>
          <a:ext cx="0" cy="0"/>
          <a:chOff x="0" y="0"/>
          <a:chExt cx="0" cy="0"/>
        </a:xfrm>
      </p:grpSpPr>
      <p:sp>
        <p:nvSpPr>
          <p:cNvPr id="85" name="Google Shape;85;p15"/>
          <p:cNvSpPr/>
          <p:nvPr/>
        </p:nvSpPr>
        <p:spPr>
          <a:xfrm>
            <a:off x="0" y="0"/>
            <a:ext cx="152400" cy="51435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nvSpPr>
        <p:spPr>
          <a:xfrm>
            <a:off x="444500" y="228600"/>
            <a:ext cx="83184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1E2761"/>
                </a:solidFill>
                <a:latin typeface="Roboto"/>
                <a:ea typeface="Roboto"/>
                <a:cs typeface="Roboto"/>
                <a:sym typeface="Roboto"/>
              </a:rPr>
              <a:t>Multi-Cohort Clinical Data Ingestion &amp; PCHIP Autocleaning</a:t>
            </a:r>
            <a:endParaRPr b="1" sz="2000">
              <a:solidFill>
                <a:srgbClr val="1E2761"/>
              </a:solidFill>
              <a:latin typeface="Roboto"/>
              <a:ea typeface="Roboto"/>
              <a:cs typeface="Roboto"/>
              <a:sym typeface="Roboto"/>
            </a:endParaRPr>
          </a:p>
        </p:txBody>
      </p:sp>
      <p:sp>
        <p:nvSpPr>
          <p:cNvPr id="87" name="Google Shape;87;p15"/>
          <p:cNvSpPr txBox="1"/>
          <p:nvPr/>
        </p:nvSpPr>
        <p:spPr>
          <a:xfrm>
            <a:off x="444500" y="711200"/>
            <a:ext cx="8318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475569"/>
                </a:solidFill>
                <a:latin typeface="Roboto"/>
                <a:ea typeface="Roboto"/>
                <a:cs typeface="Roboto"/>
                <a:sym typeface="Roboto"/>
              </a:rPr>
              <a:t>685 validated segments across 120 unique subjects streamed from 4 clinical repositories (Zero Subject Leakage).</a:t>
            </a:r>
            <a:endParaRPr sz="1100">
              <a:solidFill>
                <a:srgbClr val="475569"/>
              </a:solidFill>
              <a:latin typeface="Roboto"/>
              <a:ea typeface="Roboto"/>
              <a:cs typeface="Roboto"/>
              <a:sym typeface="Roboto"/>
            </a:endParaRPr>
          </a:p>
        </p:txBody>
      </p:sp>
      <p:graphicFrame>
        <p:nvGraphicFramePr>
          <p:cNvPr id="88" name="Google Shape;88;p15"/>
          <p:cNvGraphicFramePr/>
          <p:nvPr/>
        </p:nvGraphicFramePr>
        <p:xfrm>
          <a:off x="444500" y="1117600"/>
          <a:ext cx="3000000" cy="3000000"/>
        </p:xfrm>
        <a:graphic>
          <a:graphicData uri="http://schemas.openxmlformats.org/drawingml/2006/table">
            <a:tbl>
              <a:tblPr>
                <a:noFill/>
                <a:tableStyleId>{B2BD506A-FCF9-40A8-B625-EEFB3D616323}</a:tableStyleId>
              </a:tblPr>
              <a:tblGrid>
                <a:gridCol w="2063750"/>
                <a:gridCol w="2063750"/>
                <a:gridCol w="2063750"/>
                <a:gridCol w="2063750"/>
              </a:tblGrid>
              <a:tr h="469900">
                <a:tc>
                  <a:txBody>
                    <a:bodyPr/>
                    <a:lstStyle/>
                    <a:p>
                      <a:pPr indent="0" lvl="0" marL="0" rtl="0" algn="l">
                        <a:spcBef>
                          <a:spcPts val="0"/>
                        </a:spcBef>
                        <a:spcAft>
                          <a:spcPts val="0"/>
                        </a:spcAft>
                        <a:buNone/>
                      </a:pPr>
                      <a:r>
                        <a:rPr b="1" lang="en-GB" sz="1200">
                          <a:solidFill>
                            <a:srgbClr val="FFFFFF"/>
                          </a:solidFill>
                          <a:latin typeface="Roboto"/>
                          <a:ea typeface="Roboto"/>
                          <a:cs typeface="Roboto"/>
                          <a:sym typeface="Roboto"/>
                        </a:rPr>
                        <a:t>Clinical Data Source</a:t>
                      </a:r>
                      <a:endParaRPr b="1" sz="12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200">
                          <a:solidFill>
                            <a:srgbClr val="FFFFFF"/>
                          </a:solidFill>
                          <a:latin typeface="Roboto"/>
                          <a:ea typeface="Roboto"/>
                          <a:cs typeface="Roboto"/>
                          <a:sym typeface="Roboto"/>
                        </a:rPr>
                        <a:t>Modality &amp; Signals</a:t>
                      </a:r>
                      <a:endParaRPr b="1" sz="12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200">
                          <a:solidFill>
                            <a:srgbClr val="FFFFFF"/>
                          </a:solidFill>
                          <a:latin typeface="Roboto"/>
                          <a:ea typeface="Roboto"/>
                          <a:cs typeface="Roboto"/>
                          <a:sym typeface="Roboto"/>
                        </a:rPr>
                        <a:t>Cohort Scale</a:t>
                      </a:r>
                      <a:endParaRPr b="1" sz="12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200">
                          <a:solidFill>
                            <a:srgbClr val="FFFFFF"/>
                          </a:solidFill>
                          <a:latin typeface="Roboto"/>
                          <a:ea typeface="Roboto"/>
                          <a:cs typeface="Roboto"/>
                          <a:sym typeface="Roboto"/>
                        </a:rPr>
                        <a:t>Ingestion &amp; Cleaning Applied</a:t>
                      </a:r>
                      <a:endParaRPr b="1" sz="1200">
                        <a:solidFill>
                          <a:srgbClr val="FFFFFF"/>
                        </a:solidFill>
                        <a:latin typeface="Roboto"/>
                        <a:ea typeface="Roboto"/>
                        <a:cs typeface="Roboto"/>
                        <a:sym typeface="Roboto"/>
                      </a:endParaRPr>
                    </a:p>
                  </a:txBody>
                  <a:tcPr marT="91425" marB="91425" marR="91425" marL="91425">
                    <a:solidFill>
                      <a:srgbClr val="1E2761"/>
                    </a:solidFill>
                  </a:tcPr>
                </a:tc>
              </a:tr>
              <a:tr h="469900">
                <a:tc>
                  <a:txBody>
                    <a:bodyPr/>
                    <a:lstStyle/>
                    <a:p>
                      <a:pPr indent="0" lvl="0" marL="0" rtl="0" algn="l">
                        <a:spcBef>
                          <a:spcPts val="0"/>
                        </a:spcBef>
                        <a:spcAft>
                          <a:spcPts val="0"/>
                        </a:spcAft>
                        <a:buNone/>
                      </a:pPr>
                      <a:r>
                        <a:rPr b="1" lang="en-GB" sz="1100">
                          <a:solidFill>
                            <a:srgbClr val="1E2761"/>
                          </a:solidFill>
                          <a:latin typeface="Roboto"/>
                          <a:ea typeface="Roboto"/>
                          <a:cs typeface="Roboto"/>
                          <a:sym typeface="Roboto"/>
                        </a:rPr>
                        <a:t>1. PulseDB v2.0 MIMIC-III</a:t>
                      </a:r>
                      <a:endParaRPr b="1" sz="1100">
                        <a:solidFill>
                          <a:srgbClr val="1E2761"/>
                        </a:solidFill>
                        <a:latin typeface="Roboto"/>
                        <a:ea typeface="Roboto"/>
                        <a:cs typeface="Roboto"/>
                        <a:sym typeface="Roboto"/>
                      </a:endParaRPr>
                    </a:p>
                    <a:p>
                      <a:pPr indent="0" lvl="0" marL="0" rtl="0" algn="l">
                        <a:spcBef>
                          <a:spcPts val="0"/>
                        </a:spcBef>
                        <a:spcAft>
                          <a:spcPts val="0"/>
                        </a:spcAft>
                        <a:buNone/>
                      </a:pPr>
                      <a:r>
                        <a:rPr b="1" lang="en-GB" sz="1100">
                          <a:solidFill>
                            <a:srgbClr val="1E2761"/>
                          </a:solidFill>
                          <a:latin typeface="Roboto"/>
                          <a:ea typeface="Roboto"/>
                          <a:cs typeface="Roboto"/>
                          <a:sym typeface="Roboto"/>
                        </a:rPr>
                        <a:t>(Google Drive HDF5 + Kaggle)</a:t>
                      </a:r>
                      <a:endParaRPr b="1" sz="1100">
                        <a:solidFill>
                          <a:srgbClr val="1E2761"/>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125 Hz ICU PPG, ECG, Invasive ABP (SegSBP/SegDBP)</a:t>
                      </a:r>
                      <a:endParaRPr sz="11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28 HDF5 segments</a:t>
                      </a:r>
                      <a:endParaRPr sz="1100">
                        <a:solidFill>
                          <a:srgbClr val="1A1A2E"/>
                        </a:solidFill>
                        <a:latin typeface="Roboto"/>
                        <a:ea typeface="Roboto"/>
                        <a:cs typeface="Roboto"/>
                        <a:sym typeface="Roboto"/>
                      </a:endParaRPr>
                    </a:p>
                    <a:p>
                      <a:pPr indent="0" lvl="0" marL="0" rtl="0" algn="l">
                        <a:spcBef>
                          <a:spcPts val="0"/>
                        </a:spcBef>
                        <a:spcAft>
                          <a:spcPts val="0"/>
                        </a:spcAft>
                        <a:buNone/>
                      </a:pPr>
                      <a:r>
                        <a:rPr lang="en-GB" sz="1100">
                          <a:solidFill>
                            <a:srgbClr val="1A1A2E"/>
                          </a:solidFill>
                          <a:latin typeface="Roboto"/>
                          <a:ea typeface="Roboto"/>
                          <a:cs typeface="Roboto"/>
                          <a:sym typeface="Roboto"/>
                        </a:rPr>
                        <a:t>+ 100 Demo ICU pts</a:t>
                      </a:r>
                      <a:endParaRPr sz="11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HDF5 v7.3 Subj_Wins parser -&gt; 30 Hz master time grid</a:t>
                      </a:r>
                      <a:endParaRPr sz="1100">
                        <a:solidFill>
                          <a:srgbClr val="1A1A2E"/>
                        </a:solidFill>
                        <a:latin typeface="Roboto"/>
                        <a:ea typeface="Roboto"/>
                        <a:cs typeface="Roboto"/>
                        <a:sym typeface="Roboto"/>
                      </a:endParaRPr>
                    </a:p>
                  </a:txBody>
                  <a:tcPr marT="91425" marB="91425" marR="91425" marL="91425">
                    <a:solidFill>
                      <a:srgbClr val="FFFFFF"/>
                    </a:solidFill>
                  </a:tcPr>
                </a:tc>
              </a:tr>
              <a:tr h="469900">
                <a:tc>
                  <a:txBody>
                    <a:bodyPr/>
                    <a:lstStyle/>
                    <a:p>
                      <a:pPr indent="0" lvl="0" marL="0" rtl="0" algn="l">
                        <a:spcBef>
                          <a:spcPts val="0"/>
                        </a:spcBef>
                        <a:spcAft>
                          <a:spcPts val="0"/>
                        </a:spcAft>
                        <a:buNone/>
                      </a:pPr>
                      <a:r>
                        <a:rPr b="1" lang="en-GB" sz="1100">
                          <a:solidFill>
                            <a:srgbClr val="1E2761"/>
                          </a:solidFill>
                          <a:latin typeface="Roboto"/>
                          <a:ea typeface="Roboto"/>
                          <a:cs typeface="Roboto"/>
                          <a:sym typeface="Roboto"/>
                        </a:rPr>
                        <a:t>2. PulseDB v2.0 VitalDB</a:t>
                      </a:r>
                      <a:endParaRPr b="1" sz="1100">
                        <a:solidFill>
                          <a:srgbClr val="1E2761"/>
                        </a:solidFill>
                        <a:latin typeface="Roboto"/>
                        <a:ea typeface="Roboto"/>
                        <a:cs typeface="Roboto"/>
                        <a:sym typeface="Roboto"/>
                      </a:endParaRPr>
                    </a:p>
                    <a:p>
                      <a:pPr indent="0" lvl="0" marL="0" rtl="0" algn="l">
                        <a:spcBef>
                          <a:spcPts val="0"/>
                        </a:spcBef>
                        <a:spcAft>
                          <a:spcPts val="0"/>
                        </a:spcAft>
                        <a:buNone/>
                      </a:pPr>
                      <a:r>
                        <a:rPr b="1" lang="en-GB" sz="1100">
                          <a:solidFill>
                            <a:srgbClr val="1E2761"/>
                          </a:solidFill>
                          <a:latin typeface="Roboto"/>
                          <a:ea typeface="Roboto"/>
                          <a:cs typeface="Roboto"/>
                          <a:sym typeface="Roboto"/>
                        </a:rPr>
                        <a:t>(Google Drive HDF5 .mat)</a:t>
                      </a:r>
                      <a:endParaRPr b="1" sz="1100">
                        <a:solidFill>
                          <a:srgbClr val="1E2761"/>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125 Hz Surgical PPG, ECG, Arterial Line SBP/DBP</a:t>
                      </a:r>
                      <a:endParaRPr sz="11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25 HDF5 segments</a:t>
                      </a:r>
                      <a:endParaRPr sz="1100">
                        <a:solidFill>
                          <a:srgbClr val="1A1A2E"/>
                        </a:solidFill>
                        <a:latin typeface="Roboto"/>
                        <a:ea typeface="Roboto"/>
                        <a:cs typeface="Roboto"/>
                        <a:sym typeface="Roboto"/>
                      </a:endParaRPr>
                    </a:p>
                    <a:p>
                      <a:pPr indent="0" lvl="0" marL="0" rtl="0" algn="l">
                        <a:spcBef>
                          <a:spcPts val="0"/>
                        </a:spcBef>
                        <a:spcAft>
                          <a:spcPts val="0"/>
                        </a:spcAft>
                        <a:buNone/>
                      </a:pPr>
                      <a:r>
                        <a:rPr lang="en-GB" sz="1100">
                          <a:solidFill>
                            <a:srgbClr val="1A1A2E"/>
                          </a:solidFill>
                          <a:latin typeface="Roboto"/>
                          <a:ea typeface="Roboto"/>
                          <a:cs typeface="Roboto"/>
                          <a:sym typeface="Roboto"/>
                        </a:rPr>
                        <a:t>(Surgical cases)</a:t>
                      </a:r>
                      <a:endParaRPr sz="11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Demographic height/BMI normalization + PCHIP</a:t>
                      </a:r>
                      <a:endParaRPr sz="1100">
                        <a:solidFill>
                          <a:srgbClr val="1A1A2E"/>
                        </a:solidFill>
                        <a:latin typeface="Roboto"/>
                        <a:ea typeface="Roboto"/>
                        <a:cs typeface="Roboto"/>
                        <a:sym typeface="Roboto"/>
                      </a:endParaRPr>
                    </a:p>
                  </a:txBody>
                  <a:tcPr marT="91425" marB="91425" marR="91425" marL="91425">
                    <a:solidFill>
                      <a:srgbClr val="EBF0F7"/>
                    </a:solidFill>
                  </a:tcPr>
                </a:tc>
              </a:tr>
              <a:tr h="469900">
                <a:tc>
                  <a:txBody>
                    <a:bodyPr/>
                    <a:lstStyle/>
                    <a:p>
                      <a:pPr indent="0" lvl="0" marL="0" rtl="0" algn="l">
                        <a:spcBef>
                          <a:spcPts val="0"/>
                        </a:spcBef>
                        <a:spcAft>
                          <a:spcPts val="0"/>
                        </a:spcAft>
                        <a:buNone/>
                      </a:pPr>
                      <a:r>
                        <a:rPr b="1" lang="en-GB" sz="1100">
                          <a:solidFill>
                            <a:srgbClr val="1E2761"/>
                          </a:solidFill>
                          <a:latin typeface="Roboto"/>
                          <a:ea typeface="Roboto"/>
                          <a:cs typeface="Roboto"/>
                          <a:sym typeface="Roboto"/>
                        </a:rPr>
                        <a:t>3. PhysioNet PTT-PPG</a:t>
                      </a:r>
                      <a:endParaRPr b="1" sz="1100">
                        <a:solidFill>
                          <a:srgbClr val="1E2761"/>
                        </a:solidFill>
                        <a:latin typeface="Roboto"/>
                        <a:ea typeface="Roboto"/>
                        <a:cs typeface="Roboto"/>
                        <a:sym typeface="Roboto"/>
                      </a:endParaRPr>
                    </a:p>
                    <a:p>
                      <a:pPr indent="0" lvl="0" marL="0" rtl="0" algn="l">
                        <a:spcBef>
                          <a:spcPts val="0"/>
                        </a:spcBef>
                        <a:spcAft>
                          <a:spcPts val="0"/>
                        </a:spcAft>
                        <a:buNone/>
                      </a:pPr>
                      <a:r>
                        <a:rPr b="1" lang="en-GB" sz="1100">
                          <a:solidFill>
                            <a:srgbClr val="1E2761"/>
                          </a:solidFill>
                          <a:latin typeface="Roboto"/>
                          <a:ea typeface="Roboto"/>
                          <a:cs typeface="Roboto"/>
                          <a:sym typeface="Roboto"/>
                        </a:rPr>
                        <a:t>(v1.1.0 Multi-Site WFDB)</a:t>
                      </a:r>
                      <a:endParaRPr b="1" sz="1100">
                        <a:solidFill>
                          <a:srgbClr val="1E2761"/>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500 Hz Proximal + Distal Green PPG, 6-Axis IMU, Cuff BP</a:t>
                      </a:r>
                      <a:endParaRPr sz="11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56 segments</a:t>
                      </a:r>
                      <a:endParaRPr sz="1100">
                        <a:solidFill>
                          <a:srgbClr val="1A1A2E"/>
                        </a:solidFill>
                        <a:latin typeface="Roboto"/>
                        <a:ea typeface="Roboto"/>
                        <a:cs typeface="Roboto"/>
                        <a:sym typeface="Roboto"/>
                      </a:endParaRPr>
                    </a:p>
                    <a:p>
                      <a:pPr indent="0" lvl="0" marL="0" rtl="0" algn="l">
                        <a:spcBef>
                          <a:spcPts val="0"/>
                        </a:spcBef>
                        <a:spcAft>
                          <a:spcPts val="0"/>
                        </a:spcAft>
                        <a:buNone/>
                      </a:pPr>
                      <a:r>
                        <a:rPr lang="en-GB" sz="1100">
                          <a:solidFill>
                            <a:srgbClr val="1A1A2E"/>
                          </a:solidFill>
                          <a:latin typeface="Roboto"/>
                          <a:ea typeface="Roboto"/>
                          <a:cs typeface="Roboto"/>
                          <a:sym typeface="Roboto"/>
                        </a:rPr>
                        <a:t>(Sit &amp; Walk)</a:t>
                      </a:r>
                      <a:endParaRPr sz="11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HTTP Range streaming + IMU jitter RMS extraction</a:t>
                      </a:r>
                      <a:endParaRPr sz="1100">
                        <a:solidFill>
                          <a:srgbClr val="1A1A2E"/>
                        </a:solidFill>
                        <a:latin typeface="Roboto"/>
                        <a:ea typeface="Roboto"/>
                        <a:cs typeface="Roboto"/>
                        <a:sym typeface="Roboto"/>
                      </a:endParaRPr>
                    </a:p>
                  </a:txBody>
                  <a:tcPr marT="91425" marB="91425" marR="91425" marL="91425">
                    <a:solidFill>
                      <a:srgbClr val="FFFFFF"/>
                    </a:solidFill>
                  </a:tcPr>
                </a:tc>
              </a:tr>
              <a:tr h="469900">
                <a:tc>
                  <a:txBody>
                    <a:bodyPr/>
                    <a:lstStyle/>
                    <a:p>
                      <a:pPr indent="0" lvl="0" marL="0" rtl="0" algn="l">
                        <a:spcBef>
                          <a:spcPts val="0"/>
                        </a:spcBef>
                        <a:spcAft>
                          <a:spcPts val="0"/>
                        </a:spcAft>
                        <a:buNone/>
                      </a:pPr>
                      <a:r>
                        <a:rPr b="1" lang="en-GB" sz="1100">
                          <a:solidFill>
                            <a:srgbClr val="1E2761"/>
                          </a:solidFill>
                          <a:latin typeface="Roboto"/>
                          <a:ea typeface="Roboto"/>
                          <a:cs typeface="Roboto"/>
                          <a:sym typeface="Roboto"/>
                        </a:rPr>
                        <a:t>4. VitalDB 4-Stage</a:t>
                      </a:r>
                      <a:endParaRPr b="1" sz="1100">
                        <a:solidFill>
                          <a:srgbClr val="1E2761"/>
                        </a:solidFill>
                        <a:latin typeface="Roboto"/>
                        <a:ea typeface="Roboto"/>
                        <a:cs typeface="Roboto"/>
                        <a:sym typeface="Roboto"/>
                      </a:endParaRPr>
                    </a:p>
                    <a:p>
                      <a:pPr indent="0" lvl="0" marL="0" rtl="0" algn="l">
                        <a:spcBef>
                          <a:spcPts val="0"/>
                        </a:spcBef>
                        <a:spcAft>
                          <a:spcPts val="0"/>
                        </a:spcAft>
                        <a:buNone/>
                      </a:pPr>
                      <a:r>
                        <a:rPr b="1" lang="en-GB" sz="1100">
                          <a:solidFill>
                            <a:srgbClr val="1E2761"/>
                          </a:solidFill>
                          <a:latin typeface="Roboto"/>
                          <a:ea typeface="Roboto"/>
                          <a:cs typeface="Roboto"/>
                          <a:sym typeface="Roboto"/>
                        </a:rPr>
                        <a:t>Hydrostatic Cohort</a:t>
                      </a:r>
                      <a:endParaRPr b="1" sz="1100">
                        <a:solidFill>
                          <a:srgbClr val="1E2761"/>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Dual-site waveforms across Delta h in [-0.35, +0.35] m</a:t>
                      </a:r>
                      <a:endParaRPr sz="11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576 segments</a:t>
                      </a:r>
                      <a:endParaRPr sz="1100">
                        <a:solidFill>
                          <a:srgbClr val="1A1A2E"/>
                        </a:solidFill>
                        <a:latin typeface="Roboto"/>
                        <a:ea typeface="Roboto"/>
                        <a:cs typeface="Roboto"/>
                        <a:sym typeface="Roboto"/>
                      </a:endParaRPr>
                    </a:p>
                    <a:p>
                      <a:pPr indent="0" lvl="0" marL="0" rtl="0" algn="l">
                        <a:spcBef>
                          <a:spcPts val="0"/>
                        </a:spcBef>
                        <a:spcAft>
                          <a:spcPts val="0"/>
                        </a:spcAft>
                        <a:buNone/>
                      </a:pPr>
                      <a:r>
                        <a:rPr lang="en-GB" sz="1100">
                          <a:solidFill>
                            <a:srgbClr val="1A1A2E"/>
                          </a:solidFill>
                          <a:latin typeface="Roboto"/>
                          <a:ea typeface="Roboto"/>
                          <a:cs typeface="Roboto"/>
                          <a:sym typeface="Roboto"/>
                        </a:rPr>
                        <a:t>(96 subjects)</a:t>
                      </a:r>
                      <a:endParaRPr sz="11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1100">
                          <a:solidFill>
                            <a:srgbClr val="1A1A2E"/>
                          </a:solidFill>
                          <a:latin typeface="Roboto"/>
                          <a:ea typeface="Roboto"/>
                          <a:cs typeface="Roboto"/>
                          <a:sym typeface="Roboto"/>
                        </a:rPr>
                        <a:t>Pa-&gt;mmHg unit fix, 441 clipped frames imputed via PCHIP</a:t>
                      </a:r>
                      <a:endParaRPr sz="1100">
                        <a:solidFill>
                          <a:srgbClr val="1A1A2E"/>
                        </a:solidFill>
                        <a:latin typeface="Roboto"/>
                        <a:ea typeface="Roboto"/>
                        <a:cs typeface="Roboto"/>
                        <a:sym typeface="Roboto"/>
                      </a:endParaRPr>
                    </a:p>
                  </a:txBody>
                  <a:tcPr marT="91425" marB="91425" marR="91425" marL="91425">
                    <a:solidFill>
                      <a:srgbClr val="EBF0F7"/>
                    </a:solidFill>
                  </a:tcPr>
                </a:tc>
              </a:tr>
            </a:tbl>
          </a:graphicData>
        </a:graphic>
      </p:graphicFrame>
      <p:sp>
        <p:nvSpPr>
          <p:cNvPr id="89" name="Google Shape;89;p15"/>
          <p:cNvSpPr txBox="1"/>
          <p:nvPr/>
        </p:nvSpPr>
        <p:spPr>
          <a:xfrm>
            <a:off x="444500" y="4241800"/>
            <a:ext cx="8255100" cy="609600"/>
          </a:xfrm>
          <a:prstGeom prst="rect">
            <a:avLst/>
          </a:prstGeom>
          <a:solidFill>
            <a:srgbClr val="DCE6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050">
                <a:solidFill>
                  <a:srgbClr val="1E2761"/>
                </a:solidFill>
                <a:latin typeface="Roboto"/>
                <a:ea typeface="Roboto"/>
                <a:cs typeface="Roboto"/>
                <a:sym typeface="Roboto"/>
              </a:rPr>
              <a:t>Autocleaning &amp; Leakage Audit: 3 corrupt target rows removed (685/688 retained, 0.00% post-clean nulls).</a:t>
            </a:r>
            <a:endParaRPr b="1" sz="1050">
              <a:solidFill>
                <a:srgbClr val="1E2761"/>
              </a:solidFill>
              <a:latin typeface="Roboto"/>
              <a:ea typeface="Roboto"/>
              <a:cs typeface="Roboto"/>
              <a:sym typeface="Roboto"/>
            </a:endParaRPr>
          </a:p>
          <a:p>
            <a:pPr indent="0" lvl="0" marL="0" rtl="0" algn="l">
              <a:spcBef>
                <a:spcPts val="0"/>
              </a:spcBef>
              <a:spcAft>
                <a:spcPts val="0"/>
              </a:spcAft>
              <a:buNone/>
            </a:pPr>
            <a:r>
              <a:rPr b="1" lang="en-GB" sz="1050">
                <a:solidFill>
                  <a:srgbClr val="1E2761"/>
                </a:solidFill>
                <a:latin typeface="Roboto"/>
                <a:ea typeface="Roboto"/>
                <a:cs typeface="Roboto"/>
                <a:sym typeface="Roboto"/>
              </a:rPr>
              <a:t>Subject-independent split BEFORE StandardScaler fitting: 83 Train (486 segs) | 18 Val (99 segs) | 19 Test subjects (100 segs).</a:t>
            </a:r>
            <a:endParaRPr b="1" sz="1050">
              <a:solidFill>
                <a:srgbClr val="1E2761"/>
              </a:solidFill>
              <a:latin typeface="Roboto"/>
              <a:ea typeface="Roboto"/>
              <a:cs typeface="Roboto"/>
              <a:sym typeface="Roboto"/>
            </a:endParaRPr>
          </a:p>
        </p:txBody>
      </p:sp>
      <p:sp>
        <p:nvSpPr>
          <p:cNvPr descr="Morphing top progress bar" id="90" name="!!morph_progress" title="!!morph_progress"/>
          <p:cNvSpPr/>
          <p:nvPr/>
        </p:nvSpPr>
        <p:spPr>
          <a:xfrm>
            <a:off x="152400" y="0"/>
            <a:ext cx="24525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91" name="!!morph_indicator" title="!!morph_indicator"/>
          <p:cNvSpPr/>
          <p:nvPr/>
        </p:nvSpPr>
        <p:spPr>
          <a:xfrm>
            <a:off x="0" y="93472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2 to Slide 3" id="92" name="!!morph_bridge_2" title="!!morph_bridge_2"/>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03. Multi-Cohort Data (N=120)</a:t>
            </a:r>
            <a:endParaRPr b="1" sz="750">
              <a:solidFill>
                <a:srgbClr val="FFFFFF"/>
              </a:solidFill>
              <a:latin typeface="Roboto"/>
              <a:ea typeface="Roboto"/>
              <a:cs typeface="Roboto"/>
              <a:sym typeface="Roboto"/>
            </a:endParaRPr>
          </a:p>
        </p:txBody>
      </p:sp>
      <p:sp>
        <p:nvSpPr>
          <p:cNvPr descr="Shifting part from Slide 3 to Slide 4" id="93" name="!!morph_bridge_3" title="!!morph_bridge_3"/>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04. HRVP-PINN Biomechanics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16"/>
          <p:cNvSpPr/>
          <p:nvPr/>
        </p:nvSpPr>
        <p:spPr>
          <a:xfrm>
            <a:off x="0" y="0"/>
            <a:ext cx="152400" cy="51435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6"/>
          <p:cNvSpPr txBox="1"/>
          <p:nvPr/>
        </p:nvSpPr>
        <p:spPr>
          <a:xfrm>
            <a:off x="444500" y="203200"/>
            <a:ext cx="8318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1E2761"/>
                </a:solidFill>
                <a:latin typeface="Roboto"/>
                <a:ea typeface="Roboto"/>
                <a:cs typeface="Roboto"/>
                <a:sym typeface="Roboto"/>
              </a:rPr>
              <a:t>Physics-Informed Feature Engine (HRVP-PINN) &amp; Cohort EDA</a:t>
            </a:r>
            <a:endParaRPr b="1" sz="2000">
              <a:solidFill>
                <a:srgbClr val="1E2761"/>
              </a:solidFill>
              <a:latin typeface="Roboto"/>
              <a:ea typeface="Roboto"/>
              <a:cs typeface="Roboto"/>
              <a:sym typeface="Roboto"/>
            </a:endParaRPr>
          </a:p>
        </p:txBody>
      </p:sp>
      <p:sp>
        <p:nvSpPr>
          <p:cNvPr id="100" name="Google Shape;100;p16"/>
          <p:cNvSpPr txBox="1"/>
          <p:nvPr/>
        </p:nvSpPr>
        <p:spPr>
          <a:xfrm>
            <a:off x="444500" y="812800"/>
            <a:ext cx="3746400" cy="4065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6D Physiological Anchor Vector (z_HRVP)</a:t>
            </a:r>
            <a:endParaRPr b="1">
              <a:solidFill>
                <a:srgbClr val="FFFFFF"/>
              </a:solidFill>
              <a:latin typeface="Roboto"/>
              <a:ea typeface="Roboto"/>
              <a:cs typeface="Roboto"/>
              <a:sym typeface="Roboto"/>
            </a:endParaRPr>
          </a:p>
        </p:txBody>
      </p:sp>
      <p:sp>
        <p:nvSpPr>
          <p:cNvPr id="101" name="Google Shape;101;p16"/>
          <p:cNvSpPr txBox="1"/>
          <p:nvPr/>
        </p:nvSpPr>
        <p:spPr>
          <a:xfrm>
            <a:off x="444500" y="1219200"/>
            <a:ext cx="3746400" cy="3492600"/>
          </a:xfrm>
          <a:prstGeom prst="rect">
            <a:avLst/>
          </a:prstGeom>
          <a:solidFill>
            <a:srgbClr val="F4F6FA"/>
          </a:solidFill>
          <a:ln>
            <a:noFill/>
          </a:ln>
        </p:spPr>
        <p:txBody>
          <a:bodyPr anchorCtr="0" anchor="t" bIns="91425" lIns="91425" spcFirstLastPara="1" rIns="91425" wrap="square" tIns="91425">
            <a:noAutofit/>
          </a:bodyPr>
          <a:lstStyle/>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1. Intersecting Tangent Foot Detection</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Fits natural cubic spline S(t) to upstroke</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Solves diastolic baseline &amp; max-slope intersection</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2. Arterial Path &amp; Pulse Wave Velocity</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Path: D_path = 0.6736 * Height_m</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Velocity: ePWV = D_path / Delta_PTT (mean 6.46 m/s)</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3. Hydrostatic &amp; Hughes Elasticity Law</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PWV(P) = c0 * exp(alpha * P / 2)</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Hydrostatic shift: [-27.16, +27.16] mmHg</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Outputs 6D vector: [ePWV, dPTT, dP_hydro, d(ePWV)/dP, E0, alpha]</a:t>
            </a:r>
            <a:endParaRPr sz="1100">
              <a:solidFill>
                <a:srgbClr val="1A1A2E"/>
              </a:solidFill>
              <a:latin typeface="Roboto"/>
              <a:ea typeface="Roboto"/>
              <a:cs typeface="Roboto"/>
              <a:sym typeface="Roboto"/>
            </a:endParaRPr>
          </a:p>
        </p:txBody>
      </p:sp>
      <p:pic>
        <p:nvPicPr>
          <p:cNvPr id="102" name="Google Shape;102;p16"/>
          <p:cNvPicPr preferRelativeResize="0"/>
          <p:nvPr/>
        </p:nvPicPr>
        <p:blipFill>
          <a:blip r:embed="rId3">
            <a:alphaModFix/>
          </a:blip>
          <a:stretch>
            <a:fillRect/>
          </a:stretch>
        </p:blipFill>
        <p:spPr>
          <a:xfrm>
            <a:off x="4381500" y="1046145"/>
            <a:ext cx="4318001" cy="3013111"/>
          </a:xfrm>
          <a:prstGeom prst="rect">
            <a:avLst/>
          </a:prstGeom>
          <a:noFill/>
          <a:ln>
            <a:noFill/>
          </a:ln>
        </p:spPr>
      </p:pic>
      <p:sp>
        <p:nvSpPr>
          <p:cNvPr descr="Morphing top progress bar" id="103" name="!!morph_progress" title="!!morph_progress"/>
          <p:cNvSpPr/>
          <p:nvPr/>
        </p:nvSpPr>
        <p:spPr>
          <a:xfrm>
            <a:off x="152400" y="0"/>
            <a:ext cx="32703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104" name="!!morph_indicator" title="!!morph_indicator"/>
          <p:cNvSpPr/>
          <p:nvPr/>
        </p:nvSpPr>
        <p:spPr>
          <a:xfrm>
            <a:off x="0" y="140208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3 to Slide 4" id="105" name="!!morph_bridge_3" title="!!morph_bridge_3"/>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04. HRVP-PINN Biomechanics</a:t>
            </a:r>
            <a:endParaRPr b="1" sz="750">
              <a:solidFill>
                <a:srgbClr val="FFFFFF"/>
              </a:solidFill>
              <a:latin typeface="Roboto"/>
              <a:ea typeface="Roboto"/>
              <a:cs typeface="Roboto"/>
              <a:sym typeface="Roboto"/>
            </a:endParaRPr>
          </a:p>
        </p:txBody>
      </p:sp>
      <p:sp>
        <p:nvSpPr>
          <p:cNvPr descr="Shifting part from Slide 4 to Slide 5" id="106" name="!!morph_bridge_4" title="!!morph_bridge_4"/>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05. DualStreamTCN-XL (1.48M)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10" name="Shape 110"/>
        <p:cNvGrpSpPr/>
        <p:nvPr/>
      </p:nvGrpSpPr>
      <p:grpSpPr>
        <a:xfrm>
          <a:off x="0" y="0"/>
          <a:ext cx="0" cy="0"/>
          <a:chOff x="0" y="0"/>
          <a:chExt cx="0" cy="0"/>
        </a:xfrm>
      </p:grpSpPr>
      <p:sp>
        <p:nvSpPr>
          <p:cNvPr id="111" name="Google Shape;111;p17"/>
          <p:cNvSpPr/>
          <p:nvPr/>
        </p:nvSpPr>
        <p:spPr>
          <a:xfrm>
            <a:off x="0" y="0"/>
            <a:ext cx="152400"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7"/>
          <p:cNvSpPr txBox="1"/>
          <p:nvPr/>
        </p:nvSpPr>
        <p:spPr>
          <a:xfrm>
            <a:off x="444500" y="203200"/>
            <a:ext cx="83184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FFFFFF"/>
                </a:solidFill>
                <a:latin typeface="Roboto"/>
                <a:ea typeface="Roboto"/>
                <a:cs typeface="Roboto"/>
                <a:sym typeface="Roboto"/>
              </a:rPr>
              <a:t>Anti-Collapse DualStreamTCN-XL Architecture (1.48M Params)</a:t>
            </a:r>
            <a:endParaRPr b="1" sz="2000">
              <a:solidFill>
                <a:srgbClr val="FFFFFF"/>
              </a:solidFill>
              <a:latin typeface="Roboto"/>
              <a:ea typeface="Roboto"/>
              <a:cs typeface="Roboto"/>
              <a:sym typeface="Roboto"/>
            </a:endParaRPr>
          </a:p>
        </p:txBody>
      </p:sp>
      <p:sp>
        <p:nvSpPr>
          <p:cNvPr id="113" name="Google Shape;113;p17"/>
          <p:cNvSpPr txBox="1"/>
          <p:nvPr/>
        </p:nvSpPr>
        <p:spPr>
          <a:xfrm>
            <a:off x="444500" y="685800"/>
            <a:ext cx="8318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CADCFC"/>
                </a:solidFill>
                <a:latin typeface="Roboto"/>
                <a:ea typeface="Roboto"/>
                <a:cs typeface="Roboto"/>
                <a:sym typeface="Roboto"/>
              </a:rPr>
              <a:t>Two-tier scalable causal architecture: High-Capacity XL (1,479,682 params) &amp; Ultra-Lite Compact (230,914 params).</a:t>
            </a:r>
            <a:endParaRPr sz="1300">
              <a:solidFill>
                <a:srgbClr val="CADCFC"/>
              </a:solidFill>
              <a:latin typeface="Roboto"/>
              <a:ea typeface="Roboto"/>
              <a:cs typeface="Roboto"/>
              <a:sym typeface="Roboto"/>
            </a:endParaRPr>
          </a:p>
        </p:txBody>
      </p:sp>
      <p:sp>
        <p:nvSpPr>
          <p:cNvPr id="114" name="Google Shape;114;p17"/>
          <p:cNvSpPr txBox="1"/>
          <p:nvPr/>
        </p:nvSpPr>
        <p:spPr>
          <a:xfrm>
            <a:off x="444500" y="1117600"/>
            <a:ext cx="2603400" cy="4317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Dual Dilated Causal TCN</a:t>
            </a:r>
            <a:endParaRPr b="1">
              <a:solidFill>
                <a:srgbClr val="FFFFFF"/>
              </a:solidFill>
              <a:latin typeface="Roboto"/>
              <a:ea typeface="Roboto"/>
              <a:cs typeface="Roboto"/>
              <a:sym typeface="Roboto"/>
            </a:endParaRPr>
          </a:p>
        </p:txBody>
      </p:sp>
      <p:sp>
        <p:nvSpPr>
          <p:cNvPr id="115" name="Google Shape;115;p17"/>
          <p:cNvSpPr txBox="1"/>
          <p:nvPr/>
        </p:nvSpPr>
        <p:spPr>
          <a:xfrm>
            <a:off x="444500" y="1549400"/>
            <a:ext cx="2603400" cy="1841400"/>
          </a:xfrm>
          <a:prstGeom prst="rect">
            <a:avLst/>
          </a:prstGeom>
          <a:solidFill>
            <a:srgbClr val="273275"/>
          </a:solid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5 Dilated Causal Residual Stages per stream: d = [1, 2, 4, 8, 16], k = 5</a:t>
            </a:r>
            <a:endParaRPr sz="1100">
              <a:solidFill>
                <a:srgbClr val="FFFFFF"/>
              </a:solidFill>
              <a:latin typeface="Roboto"/>
              <a:ea typeface="Roboto"/>
              <a:cs typeface="Roboto"/>
              <a:sym typeface="Roboto"/>
            </a:endParaRPr>
          </a:p>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Receptive Field: 125 samples (4.17 sec @ 30 Hz)</a:t>
            </a:r>
            <a:endParaRPr sz="1100">
              <a:solidFill>
                <a:srgbClr val="FFFFFF"/>
              </a:solidFill>
              <a:latin typeface="Roboto"/>
              <a:ea typeface="Roboto"/>
              <a:cs typeface="Roboto"/>
              <a:sym typeface="Roboto"/>
            </a:endParaRPr>
          </a:p>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Channel progression: 32 -&gt; 64 -&gt; 96 -&gt; 128 -&gt; 128 with WeightNorm + GELU</a:t>
            </a:r>
            <a:endParaRPr sz="1100">
              <a:solidFill>
                <a:srgbClr val="FFFFFF"/>
              </a:solidFill>
              <a:latin typeface="Roboto"/>
              <a:ea typeface="Roboto"/>
              <a:cs typeface="Roboto"/>
              <a:sym typeface="Roboto"/>
            </a:endParaRPr>
          </a:p>
        </p:txBody>
      </p:sp>
      <p:sp>
        <p:nvSpPr>
          <p:cNvPr id="116" name="Google Shape;116;p17"/>
          <p:cNvSpPr txBox="1"/>
          <p:nvPr/>
        </p:nvSpPr>
        <p:spPr>
          <a:xfrm>
            <a:off x="3263900" y="1117600"/>
            <a:ext cx="2603400" cy="4317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Causal Cross-Attention</a:t>
            </a:r>
            <a:endParaRPr b="1">
              <a:solidFill>
                <a:srgbClr val="FFFFFF"/>
              </a:solidFill>
              <a:latin typeface="Roboto"/>
              <a:ea typeface="Roboto"/>
              <a:cs typeface="Roboto"/>
              <a:sym typeface="Roboto"/>
            </a:endParaRPr>
          </a:p>
        </p:txBody>
      </p:sp>
      <p:sp>
        <p:nvSpPr>
          <p:cNvPr id="117" name="Google Shape;117;p17"/>
          <p:cNvSpPr txBox="1"/>
          <p:nvPr/>
        </p:nvSpPr>
        <p:spPr>
          <a:xfrm>
            <a:off x="3263900" y="1549400"/>
            <a:ext cx="2603400" cy="1841400"/>
          </a:xfrm>
          <a:prstGeom prst="rect">
            <a:avLst/>
          </a:prstGeom>
          <a:solidFill>
            <a:srgbClr val="273275"/>
          </a:solid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4-Head Causal Cross-Attention (d_model = 128)</a:t>
            </a:r>
            <a:endParaRPr sz="1100">
              <a:solidFill>
                <a:srgbClr val="FFFFFF"/>
              </a:solidFill>
              <a:latin typeface="Roboto"/>
              <a:ea typeface="Roboto"/>
              <a:cs typeface="Roboto"/>
              <a:sym typeface="Roboto"/>
            </a:endParaRPr>
          </a:p>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Finger Morphology (Query) attends strictly to preceding Facial Timing (Key/Value)</a:t>
            </a:r>
            <a:endParaRPr sz="1100">
              <a:solidFill>
                <a:srgbClr val="FFFFFF"/>
              </a:solidFill>
              <a:latin typeface="Roboto"/>
              <a:ea typeface="Roboto"/>
              <a:cs typeface="Roboto"/>
              <a:sym typeface="Roboto"/>
            </a:endParaRPr>
          </a:p>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Upper-triangular mask prevents future temporal leakage</a:t>
            </a:r>
            <a:endParaRPr sz="1100">
              <a:solidFill>
                <a:srgbClr val="FFFFFF"/>
              </a:solidFill>
              <a:latin typeface="Roboto"/>
              <a:ea typeface="Roboto"/>
              <a:cs typeface="Roboto"/>
              <a:sym typeface="Roboto"/>
            </a:endParaRPr>
          </a:p>
        </p:txBody>
      </p:sp>
      <p:sp>
        <p:nvSpPr>
          <p:cNvPr id="118" name="Google Shape;118;p17"/>
          <p:cNvSpPr txBox="1"/>
          <p:nvPr/>
        </p:nvSpPr>
        <p:spPr>
          <a:xfrm>
            <a:off x="6096000" y="1117600"/>
            <a:ext cx="2603400" cy="4317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512-D Physics Fusion Tower</a:t>
            </a:r>
            <a:endParaRPr b="1">
              <a:solidFill>
                <a:srgbClr val="FFFFFF"/>
              </a:solidFill>
              <a:latin typeface="Roboto"/>
              <a:ea typeface="Roboto"/>
              <a:cs typeface="Roboto"/>
              <a:sym typeface="Roboto"/>
            </a:endParaRPr>
          </a:p>
        </p:txBody>
      </p:sp>
      <p:sp>
        <p:nvSpPr>
          <p:cNvPr id="119" name="Google Shape;119;p17"/>
          <p:cNvSpPr txBox="1"/>
          <p:nvPr/>
        </p:nvSpPr>
        <p:spPr>
          <a:xfrm>
            <a:off x="6096000" y="1549400"/>
            <a:ext cx="2603400" cy="1841400"/>
          </a:xfrm>
          <a:prstGeom prst="rect">
            <a:avLst/>
          </a:prstGeom>
          <a:solidFill>
            <a:srgbClr val="273275"/>
          </a:solid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Fuses 384-D multi-scale optical features with 128-D HRVP-PINN anchor embedding</a:t>
            </a:r>
            <a:endParaRPr sz="1100">
              <a:solidFill>
                <a:srgbClr val="FFFFFF"/>
              </a:solidFill>
              <a:latin typeface="Roboto"/>
              <a:ea typeface="Roboto"/>
              <a:cs typeface="Roboto"/>
              <a:sym typeface="Roboto"/>
            </a:endParaRPr>
          </a:p>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Deep ResidualFusionBlock (512-D)</a:t>
            </a:r>
            <a:endParaRPr sz="1100">
              <a:solidFill>
                <a:srgbClr val="FFFFFF"/>
              </a:solidFill>
              <a:latin typeface="Roboto"/>
              <a:ea typeface="Roboto"/>
              <a:cs typeface="Roboto"/>
              <a:sym typeface="Roboto"/>
            </a:endParaRPr>
          </a:p>
          <a:p>
            <a:pPr indent="0" lvl="0" marL="0" rtl="0" algn="l">
              <a:lnSpc>
                <a:spcPct val="135000"/>
              </a:lnSpc>
              <a:spcBef>
                <a:spcPts val="0"/>
              </a:spcBef>
              <a:spcAft>
                <a:spcPts val="0"/>
              </a:spcAft>
              <a:buNone/>
            </a:pPr>
            <a:r>
              <a:rPr lang="en-GB" sz="1100">
                <a:solidFill>
                  <a:srgbClr val="FFFFFF"/>
                </a:solidFill>
                <a:latin typeface="Roboto"/>
                <a:ea typeface="Roboto"/>
                <a:cs typeface="Roboto"/>
                <a:sym typeface="Roboto"/>
              </a:rPr>
              <a:t>• Physics-guided blend: 55% Neural + 45% Analytical HRVP prior</a:t>
            </a:r>
            <a:endParaRPr sz="1100">
              <a:solidFill>
                <a:srgbClr val="FFFFFF"/>
              </a:solidFill>
              <a:latin typeface="Roboto"/>
              <a:ea typeface="Roboto"/>
              <a:cs typeface="Roboto"/>
              <a:sym typeface="Roboto"/>
            </a:endParaRPr>
          </a:p>
        </p:txBody>
      </p:sp>
      <p:sp>
        <p:nvSpPr>
          <p:cNvPr id="120" name="Google Shape;120;p17"/>
          <p:cNvSpPr txBox="1"/>
          <p:nvPr/>
        </p:nvSpPr>
        <p:spPr>
          <a:xfrm>
            <a:off x="444500" y="3581400"/>
            <a:ext cx="8255100" cy="1168500"/>
          </a:xfrm>
          <a:prstGeom prst="rect">
            <a:avLst/>
          </a:prstGeom>
          <a:solidFill>
            <a:srgbClr val="151C48"/>
          </a:solid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b="1" lang="en-GB" sz="1200">
                <a:solidFill>
                  <a:srgbClr val="CADCFC"/>
                </a:solidFill>
                <a:latin typeface="Roboto"/>
                <a:ea typeface="Roboto"/>
                <a:cs typeface="Roboto"/>
                <a:sym typeface="Roboto"/>
              </a:rPr>
              <a:t>Tripartite Anti-Collapse Loss Function:</a:t>
            </a:r>
            <a:endParaRPr b="1" sz="1200">
              <a:solidFill>
                <a:srgbClr val="CADCFC"/>
              </a:solidFill>
              <a:latin typeface="Roboto"/>
              <a:ea typeface="Roboto"/>
              <a:cs typeface="Roboto"/>
              <a:sym typeface="Roboto"/>
            </a:endParaRPr>
          </a:p>
          <a:p>
            <a:pPr indent="0" lvl="0" marL="0" rtl="0" algn="l">
              <a:lnSpc>
                <a:spcPct val="135000"/>
              </a:lnSpc>
              <a:spcBef>
                <a:spcPts val="0"/>
              </a:spcBef>
              <a:spcAft>
                <a:spcPts val="0"/>
              </a:spcAft>
              <a:buNone/>
            </a:pPr>
            <a:r>
              <a:rPr b="1" lang="en-GB" sz="1200">
                <a:solidFill>
                  <a:srgbClr val="CADCFC"/>
                </a:solidFill>
                <a:latin typeface="Roboto"/>
                <a:ea typeface="Roboto"/>
                <a:cs typeface="Roboto"/>
                <a:sym typeface="Roboto"/>
              </a:rPr>
              <a:t>L_total = L_Huber(delta=1.0)  +  0.40 * (1 - Pearson_r)  +  0.25 * ( |1 - std(y_hat)/std(y)| + max(0, 1 - var(y_hat)/64) )</a:t>
            </a:r>
            <a:endParaRPr b="1" sz="1200">
              <a:solidFill>
                <a:srgbClr val="CADCFC"/>
              </a:solidFill>
              <a:latin typeface="Roboto"/>
              <a:ea typeface="Roboto"/>
              <a:cs typeface="Roboto"/>
              <a:sym typeface="Roboto"/>
            </a:endParaRPr>
          </a:p>
          <a:p>
            <a:pPr indent="0" lvl="0" marL="0" rtl="0" algn="l">
              <a:lnSpc>
                <a:spcPct val="135000"/>
              </a:lnSpc>
              <a:spcBef>
                <a:spcPts val="0"/>
              </a:spcBef>
              <a:spcAft>
                <a:spcPts val="0"/>
              </a:spcAft>
              <a:buNone/>
            </a:pPr>
            <a:r>
              <a:rPr b="1" lang="en-GB" sz="1200">
                <a:solidFill>
                  <a:srgbClr val="CADCFC"/>
                </a:solidFill>
                <a:latin typeface="Roboto"/>
                <a:ea typeface="Roboto"/>
                <a:cs typeface="Roboto"/>
                <a:sym typeface="Roboto"/>
              </a:rPr>
              <a:t>Simultaneously penalizes point-wise outlier error, phase decorrelation, and variance shrinkage.</a:t>
            </a:r>
            <a:endParaRPr b="1" sz="1200">
              <a:solidFill>
                <a:srgbClr val="CADCFC"/>
              </a:solidFill>
              <a:latin typeface="Roboto"/>
              <a:ea typeface="Roboto"/>
              <a:cs typeface="Roboto"/>
              <a:sym typeface="Roboto"/>
            </a:endParaRPr>
          </a:p>
        </p:txBody>
      </p:sp>
      <p:sp>
        <p:nvSpPr>
          <p:cNvPr descr="Morphing top progress bar" id="121" name="!!morph_progress" title="!!morph_progress"/>
          <p:cNvSpPr/>
          <p:nvPr/>
        </p:nvSpPr>
        <p:spPr>
          <a:xfrm>
            <a:off x="152400" y="0"/>
            <a:ext cx="40869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122" name="!!morph_indicator" title="!!morph_indicator"/>
          <p:cNvSpPr/>
          <p:nvPr/>
        </p:nvSpPr>
        <p:spPr>
          <a:xfrm>
            <a:off x="0" y="186944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4 to Slide 5" id="123" name="!!morph_bridge_4" title="!!morph_bridge_4"/>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05. DualStreamTCN-XL (1.48M)</a:t>
            </a:r>
            <a:endParaRPr b="1" sz="750">
              <a:solidFill>
                <a:srgbClr val="FFFFFF"/>
              </a:solidFill>
              <a:latin typeface="Roboto"/>
              <a:ea typeface="Roboto"/>
              <a:cs typeface="Roboto"/>
              <a:sym typeface="Roboto"/>
            </a:endParaRPr>
          </a:p>
        </p:txBody>
      </p:sp>
      <p:sp>
        <p:nvSpPr>
          <p:cNvPr descr="Shifting part from Slide 5 to Slide 6" id="124" name="!!morph_bridge_5" title="!!morph_bridge_5"/>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06. Anti-Collapse Convergence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18"/>
          <p:cNvSpPr/>
          <p:nvPr/>
        </p:nvSpPr>
        <p:spPr>
          <a:xfrm>
            <a:off x="0" y="0"/>
            <a:ext cx="152400" cy="51435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8"/>
          <p:cNvSpPr txBox="1"/>
          <p:nvPr/>
        </p:nvSpPr>
        <p:spPr>
          <a:xfrm>
            <a:off x="444500" y="203200"/>
            <a:ext cx="8318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1E2761"/>
                </a:solidFill>
                <a:latin typeface="Roboto"/>
                <a:ea typeface="Roboto"/>
                <a:cs typeface="Roboto"/>
                <a:sym typeface="Roboto"/>
              </a:rPr>
              <a:t>Training Convergence &amp; Anti-Collapse Trajectory (Colab Run)</a:t>
            </a:r>
            <a:endParaRPr b="1" sz="2000">
              <a:solidFill>
                <a:srgbClr val="1E2761"/>
              </a:solidFill>
              <a:latin typeface="Roboto"/>
              <a:ea typeface="Roboto"/>
              <a:cs typeface="Roboto"/>
              <a:sym typeface="Roboto"/>
            </a:endParaRPr>
          </a:p>
        </p:txBody>
      </p:sp>
      <p:sp>
        <p:nvSpPr>
          <p:cNvPr id="131" name="Google Shape;131;p18"/>
          <p:cNvSpPr txBox="1"/>
          <p:nvPr/>
        </p:nvSpPr>
        <p:spPr>
          <a:xfrm>
            <a:off x="444500" y="3429000"/>
            <a:ext cx="8255100" cy="1333500"/>
          </a:xfrm>
          <a:prstGeom prst="rect">
            <a:avLst/>
          </a:prstGeom>
          <a:solidFill>
            <a:srgbClr val="F4F6FA"/>
          </a:solid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Rapid Convergence: Best Validation Loss reaches 2.320 (Val SBP MAE: 3.79 mmHg, Val DBP MAE: 2.52 mmHg, Val r: 0.980).</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Zero Mode Collapse: Validation Pearson r climbs from 0.321 (Epoch 1) to 0.980 (Epoch 20) while Variance Ratio stabilizes above 0.83.</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Optimizer &amp; Regularization: AdamW (lr = 2.5e-3, weight_decay = 1e-4) with OneCycleLR warmup and gradient clipping (max_norm = 1.0).</a:t>
            </a:r>
            <a:endParaRPr sz="1200">
              <a:solidFill>
                <a:srgbClr val="1A1A2E"/>
              </a:solidFill>
              <a:latin typeface="Roboto"/>
              <a:ea typeface="Roboto"/>
              <a:cs typeface="Roboto"/>
              <a:sym typeface="Roboto"/>
            </a:endParaRPr>
          </a:p>
        </p:txBody>
      </p:sp>
      <p:pic>
        <p:nvPicPr>
          <p:cNvPr id="132" name="Google Shape;132;p18"/>
          <p:cNvPicPr preferRelativeResize="0"/>
          <p:nvPr/>
        </p:nvPicPr>
        <p:blipFill>
          <a:blip r:embed="rId3">
            <a:alphaModFix/>
          </a:blip>
          <a:stretch>
            <a:fillRect/>
          </a:stretch>
        </p:blipFill>
        <p:spPr>
          <a:xfrm>
            <a:off x="444500" y="936171"/>
            <a:ext cx="8255000" cy="2267857"/>
          </a:xfrm>
          <a:prstGeom prst="rect">
            <a:avLst/>
          </a:prstGeom>
          <a:noFill/>
          <a:ln>
            <a:noFill/>
          </a:ln>
        </p:spPr>
      </p:pic>
      <p:sp>
        <p:nvSpPr>
          <p:cNvPr descr="Morphing top progress bar" id="133" name="!!morph_progress" title="!!morph_progress"/>
          <p:cNvSpPr/>
          <p:nvPr/>
        </p:nvSpPr>
        <p:spPr>
          <a:xfrm>
            <a:off x="152400" y="0"/>
            <a:ext cx="49047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134" name="!!morph_indicator" title="!!morph_indicator"/>
          <p:cNvSpPr/>
          <p:nvPr/>
        </p:nvSpPr>
        <p:spPr>
          <a:xfrm>
            <a:off x="0" y="233680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5 to Slide 6" id="135" name="!!morph_bridge_5" title="!!morph_bridge_5"/>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06. Anti-Collapse Convergence</a:t>
            </a:r>
            <a:endParaRPr b="1" sz="750">
              <a:solidFill>
                <a:srgbClr val="FFFFFF"/>
              </a:solidFill>
              <a:latin typeface="Roboto"/>
              <a:ea typeface="Roboto"/>
              <a:cs typeface="Roboto"/>
              <a:sym typeface="Roboto"/>
            </a:endParaRPr>
          </a:p>
        </p:txBody>
      </p:sp>
      <p:sp>
        <p:nvSpPr>
          <p:cNvPr descr="Shifting part from Slide 6 to Slide 7" id="136" name="!!morph_bridge_6" title="!!morph_bridge_6"/>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07. Unseen Test Benchmark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40" name="Shape 140"/>
        <p:cNvGrpSpPr/>
        <p:nvPr/>
      </p:nvGrpSpPr>
      <p:grpSpPr>
        <a:xfrm>
          <a:off x="0" y="0"/>
          <a:ext cx="0" cy="0"/>
          <a:chOff x="0" y="0"/>
          <a:chExt cx="0" cy="0"/>
        </a:xfrm>
      </p:grpSpPr>
      <p:sp>
        <p:nvSpPr>
          <p:cNvPr id="141" name="Google Shape;141;p19"/>
          <p:cNvSpPr/>
          <p:nvPr/>
        </p:nvSpPr>
        <p:spPr>
          <a:xfrm>
            <a:off x="0" y="0"/>
            <a:ext cx="152400" cy="51435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9"/>
          <p:cNvSpPr txBox="1"/>
          <p:nvPr/>
        </p:nvSpPr>
        <p:spPr>
          <a:xfrm>
            <a:off x="444500" y="203200"/>
            <a:ext cx="8318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1E2761"/>
                </a:solidFill>
                <a:latin typeface="Roboto"/>
                <a:ea typeface="Roboto"/>
                <a:cs typeface="Roboto"/>
                <a:sym typeface="Roboto"/>
              </a:rPr>
              <a:t>Master Model Comparison on Unseen Test Subjects (N = 100)</a:t>
            </a:r>
            <a:endParaRPr b="1" sz="2000">
              <a:solidFill>
                <a:srgbClr val="1E2761"/>
              </a:solidFill>
              <a:latin typeface="Roboto"/>
              <a:ea typeface="Roboto"/>
              <a:cs typeface="Roboto"/>
              <a:sym typeface="Roboto"/>
            </a:endParaRPr>
          </a:p>
        </p:txBody>
      </p:sp>
      <p:sp>
        <p:nvSpPr>
          <p:cNvPr id="143" name="Google Shape;143;p19"/>
          <p:cNvSpPr txBox="1"/>
          <p:nvPr/>
        </p:nvSpPr>
        <p:spPr>
          <a:xfrm>
            <a:off x="444500" y="660400"/>
            <a:ext cx="8318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4A5568"/>
                </a:solidFill>
                <a:latin typeface="Roboto"/>
                <a:ea typeface="Roboto"/>
                <a:cs typeface="Roboto"/>
                <a:sym typeface="Roboto"/>
              </a:rPr>
              <a:t>Evaluated on 19 held-out test subjects (100 segments). Only HRVP-PINN + DS-TCN-XL passes ISO 81060-2 &amp; BHS Grade A.</a:t>
            </a:r>
            <a:endParaRPr sz="1100">
              <a:solidFill>
                <a:srgbClr val="4A5568"/>
              </a:solidFill>
              <a:latin typeface="Roboto"/>
              <a:ea typeface="Roboto"/>
              <a:cs typeface="Roboto"/>
              <a:sym typeface="Roboto"/>
            </a:endParaRPr>
          </a:p>
        </p:txBody>
      </p:sp>
      <p:graphicFrame>
        <p:nvGraphicFramePr>
          <p:cNvPr id="144" name="Google Shape;144;p19"/>
          <p:cNvGraphicFramePr/>
          <p:nvPr/>
        </p:nvGraphicFramePr>
        <p:xfrm>
          <a:off x="444500" y="1041400"/>
          <a:ext cx="3000000" cy="3000000"/>
        </p:xfrm>
        <a:graphic>
          <a:graphicData uri="http://schemas.openxmlformats.org/drawingml/2006/table">
            <a:tbl>
              <a:tblPr>
                <a:noFill/>
                <a:tableStyleId>{B2BD506A-FCF9-40A8-B625-EEFB3D616323}</a:tableStyleId>
              </a:tblPr>
              <a:tblGrid>
                <a:gridCol w="1179275"/>
                <a:gridCol w="1179275"/>
                <a:gridCol w="1179275"/>
                <a:gridCol w="1179275"/>
                <a:gridCol w="1179275"/>
                <a:gridCol w="1179275"/>
                <a:gridCol w="1179275"/>
              </a:tblGrid>
              <a:tr h="408225">
                <a:tc>
                  <a:txBody>
                    <a:bodyPr/>
                    <a:lstStyle/>
                    <a:p>
                      <a:pPr indent="0" lvl="0" marL="0" rtl="0" algn="l">
                        <a:spcBef>
                          <a:spcPts val="0"/>
                        </a:spcBef>
                        <a:spcAft>
                          <a:spcPts val="0"/>
                        </a:spcAft>
                        <a:buNone/>
                      </a:pPr>
                      <a:r>
                        <a:rPr b="1" lang="en-GB" sz="1100">
                          <a:solidFill>
                            <a:srgbClr val="FFFFFF"/>
                          </a:solidFill>
                          <a:latin typeface="Roboto"/>
                          <a:ea typeface="Roboto"/>
                          <a:cs typeface="Roboto"/>
                          <a:sym typeface="Roboto"/>
                        </a:rPr>
                        <a:t>Model Tier</a:t>
                      </a:r>
                      <a:endParaRPr b="1" sz="11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100">
                          <a:solidFill>
                            <a:srgbClr val="FFFFFF"/>
                          </a:solidFill>
                          <a:latin typeface="Roboto"/>
                          <a:ea typeface="Roboto"/>
                          <a:cs typeface="Roboto"/>
                          <a:sym typeface="Roboto"/>
                        </a:rPr>
                        <a:t>SBP MAE</a:t>
                      </a:r>
                      <a:endParaRPr b="1" sz="11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100">
                          <a:solidFill>
                            <a:srgbClr val="FFFFFF"/>
                          </a:solidFill>
                          <a:latin typeface="Roboto"/>
                          <a:ea typeface="Roboto"/>
                          <a:cs typeface="Roboto"/>
                          <a:sym typeface="Roboto"/>
                        </a:rPr>
                        <a:t>DBP MAE</a:t>
                      </a:r>
                      <a:endParaRPr b="1" sz="11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100">
                          <a:solidFill>
                            <a:srgbClr val="FFFFFF"/>
                          </a:solidFill>
                          <a:latin typeface="Roboto"/>
                          <a:ea typeface="Roboto"/>
                          <a:cs typeface="Roboto"/>
                          <a:sym typeface="Roboto"/>
                        </a:rPr>
                        <a:t>SBP / DBP SD</a:t>
                      </a:r>
                      <a:endParaRPr b="1" sz="11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100">
                          <a:solidFill>
                            <a:srgbClr val="FFFFFF"/>
                          </a:solidFill>
                          <a:latin typeface="Roboto"/>
                          <a:ea typeface="Roboto"/>
                          <a:cs typeface="Roboto"/>
                          <a:sym typeface="Roboto"/>
                        </a:rPr>
                        <a:t>SBP Pearson r</a:t>
                      </a:r>
                      <a:endParaRPr b="1" sz="11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100">
                          <a:solidFill>
                            <a:srgbClr val="FFFFFF"/>
                          </a:solidFill>
                          <a:latin typeface="Roboto"/>
                          <a:ea typeface="Roboto"/>
                          <a:cs typeface="Roboto"/>
                          <a:sym typeface="Roboto"/>
                        </a:rPr>
                        <a:t>BHS Grade</a:t>
                      </a:r>
                      <a:endParaRPr b="1" sz="1100">
                        <a:solidFill>
                          <a:srgbClr val="FFFFFF"/>
                        </a:solidFill>
                        <a:latin typeface="Roboto"/>
                        <a:ea typeface="Roboto"/>
                        <a:cs typeface="Roboto"/>
                        <a:sym typeface="Roboto"/>
                      </a:endParaRPr>
                    </a:p>
                  </a:txBody>
                  <a:tcPr marT="91425" marB="91425" marR="91425" marL="91425">
                    <a:solidFill>
                      <a:srgbClr val="1E2761"/>
                    </a:solidFill>
                  </a:tcPr>
                </a:tc>
                <a:tc>
                  <a:txBody>
                    <a:bodyPr/>
                    <a:lstStyle/>
                    <a:p>
                      <a:pPr indent="0" lvl="0" marL="0" rtl="0" algn="l">
                        <a:spcBef>
                          <a:spcPts val="0"/>
                        </a:spcBef>
                        <a:spcAft>
                          <a:spcPts val="0"/>
                        </a:spcAft>
                        <a:buNone/>
                      </a:pPr>
                      <a:r>
                        <a:rPr b="1" lang="en-GB" sz="1100">
                          <a:solidFill>
                            <a:srgbClr val="FFFFFF"/>
                          </a:solidFill>
                          <a:latin typeface="Roboto"/>
                          <a:ea typeface="Roboto"/>
                          <a:cs typeface="Roboto"/>
                          <a:sym typeface="Roboto"/>
                        </a:rPr>
                        <a:t>ISO 81060-2</a:t>
                      </a:r>
                      <a:endParaRPr b="1" sz="1100">
                        <a:solidFill>
                          <a:srgbClr val="FFFFFF"/>
                        </a:solidFill>
                        <a:latin typeface="Roboto"/>
                        <a:ea typeface="Roboto"/>
                        <a:cs typeface="Roboto"/>
                        <a:sym typeface="Roboto"/>
                      </a:endParaRPr>
                    </a:p>
                  </a:txBody>
                  <a:tcPr marT="91425" marB="91425" marR="91425" marL="91425">
                    <a:solidFill>
                      <a:srgbClr val="1E2761"/>
                    </a:solidFill>
                  </a:tcPr>
                </a:tc>
              </a:tr>
              <a:tr h="408225">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0. Naive Mean (mu_train)</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20.65 mmHg</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15.57 mmHg</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22.89 / 17.90</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0.0000 (Collapsed)</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Grade D</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990011"/>
                          </a:solidFill>
                          <a:latin typeface="Roboto"/>
                          <a:ea typeface="Roboto"/>
                          <a:cs typeface="Roboto"/>
                          <a:sym typeface="Roboto"/>
                        </a:rPr>
                        <a:t>FAIL</a:t>
                      </a:r>
                      <a:endParaRPr b="1" sz="900">
                        <a:solidFill>
                          <a:srgbClr val="990011"/>
                        </a:solidFill>
                        <a:latin typeface="Roboto"/>
                        <a:ea typeface="Roboto"/>
                        <a:cs typeface="Roboto"/>
                        <a:sym typeface="Roboto"/>
                      </a:endParaRPr>
                    </a:p>
                  </a:txBody>
                  <a:tcPr marT="91425" marB="91425" marR="91425" marL="91425">
                    <a:solidFill>
                      <a:srgbClr val="FFFFFF"/>
                    </a:solidFill>
                  </a:tcPr>
                </a:tc>
              </a:tr>
              <a:tr h="408225">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 Classical Ridge Regression</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13.12 mmHg</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8.33 mmHg</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14.57 / 10.28</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0.7742</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Grade D</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b="1" lang="en-GB" sz="900">
                          <a:solidFill>
                            <a:srgbClr val="990011"/>
                          </a:solidFill>
                          <a:latin typeface="Roboto"/>
                          <a:ea typeface="Roboto"/>
                          <a:cs typeface="Roboto"/>
                          <a:sym typeface="Roboto"/>
                        </a:rPr>
                        <a:t>FAIL</a:t>
                      </a:r>
                      <a:endParaRPr b="1" sz="900">
                        <a:solidFill>
                          <a:srgbClr val="990011"/>
                        </a:solidFill>
                        <a:latin typeface="Roboto"/>
                        <a:ea typeface="Roboto"/>
                        <a:cs typeface="Roboto"/>
                        <a:sym typeface="Roboto"/>
                      </a:endParaRPr>
                    </a:p>
                  </a:txBody>
                  <a:tcPr marT="91425" marB="91425" marR="91425" marL="91425">
                    <a:solidFill>
                      <a:srgbClr val="EBF0F7"/>
                    </a:solidFill>
                  </a:tcPr>
                </a:tc>
              </a:tr>
              <a:tr h="408225">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2. Classical ElasticNet</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14.87 mmHg</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9.89 mmHg</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16.14 / 11.81</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0.7349</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Grade D</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990011"/>
                          </a:solidFill>
                          <a:latin typeface="Roboto"/>
                          <a:ea typeface="Roboto"/>
                          <a:cs typeface="Roboto"/>
                          <a:sym typeface="Roboto"/>
                        </a:rPr>
                        <a:t>FAIL</a:t>
                      </a:r>
                      <a:endParaRPr b="1" sz="900">
                        <a:solidFill>
                          <a:srgbClr val="990011"/>
                        </a:solidFill>
                        <a:latin typeface="Roboto"/>
                        <a:ea typeface="Roboto"/>
                        <a:cs typeface="Roboto"/>
                        <a:sym typeface="Roboto"/>
                      </a:endParaRPr>
                    </a:p>
                  </a:txBody>
                  <a:tcPr marT="91425" marB="91425" marR="91425" marL="91425">
                    <a:solidFill>
                      <a:srgbClr val="FFFFFF"/>
                    </a:solidFill>
                  </a:tcPr>
                </a:tc>
              </a:tr>
              <a:tr h="408225">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3. Classical Gradient Boosting</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11.39 mmHg</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6.55 mmHg</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13.53 / 9.03</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0.8157</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Grade D</a:t>
                      </a:r>
                      <a:endParaRPr sz="900">
                        <a:solidFill>
                          <a:srgbClr val="1A1A2E"/>
                        </a:solidFill>
                        <a:latin typeface="Roboto"/>
                        <a:ea typeface="Roboto"/>
                        <a:cs typeface="Roboto"/>
                        <a:sym typeface="Roboto"/>
                      </a:endParaRPr>
                    </a:p>
                  </a:txBody>
                  <a:tcPr marT="91425" marB="91425" marR="91425" marL="91425">
                    <a:solidFill>
                      <a:srgbClr val="EBF0F7"/>
                    </a:solidFill>
                  </a:tcPr>
                </a:tc>
                <a:tc>
                  <a:txBody>
                    <a:bodyPr/>
                    <a:lstStyle/>
                    <a:p>
                      <a:pPr indent="0" lvl="0" marL="0" rtl="0" algn="l">
                        <a:spcBef>
                          <a:spcPts val="0"/>
                        </a:spcBef>
                        <a:spcAft>
                          <a:spcPts val="0"/>
                        </a:spcAft>
                        <a:buNone/>
                      </a:pPr>
                      <a:r>
                        <a:rPr b="1" lang="en-GB" sz="900">
                          <a:solidFill>
                            <a:srgbClr val="990011"/>
                          </a:solidFill>
                          <a:latin typeface="Roboto"/>
                          <a:ea typeface="Roboto"/>
                          <a:cs typeface="Roboto"/>
                          <a:sym typeface="Roboto"/>
                        </a:rPr>
                        <a:t>FAIL</a:t>
                      </a:r>
                      <a:endParaRPr b="1" sz="900">
                        <a:solidFill>
                          <a:srgbClr val="990011"/>
                        </a:solidFill>
                        <a:latin typeface="Roboto"/>
                        <a:ea typeface="Roboto"/>
                        <a:cs typeface="Roboto"/>
                        <a:sym typeface="Roboto"/>
                      </a:endParaRPr>
                    </a:p>
                  </a:txBody>
                  <a:tcPr marT="91425" marB="91425" marR="91425" marL="91425">
                    <a:solidFill>
                      <a:srgbClr val="EBF0F7"/>
                    </a:solidFill>
                  </a:tcPr>
                </a:tc>
              </a:tr>
              <a:tr h="408225">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4. Single-Stream rPPG TCN</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86.56 mmHg</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46.17 mmHg</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22.60 / 17.56</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0.2911 (Var=0.002)</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en-GB" sz="900">
                          <a:solidFill>
                            <a:srgbClr val="1A1A2E"/>
                          </a:solidFill>
                          <a:latin typeface="Roboto"/>
                          <a:ea typeface="Roboto"/>
                          <a:cs typeface="Roboto"/>
                          <a:sym typeface="Roboto"/>
                        </a:rPr>
                        <a:t>Grade D</a:t>
                      </a:r>
                      <a:endParaRPr sz="900">
                        <a:solidFill>
                          <a:srgbClr val="1A1A2E"/>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990011"/>
                          </a:solidFill>
                          <a:latin typeface="Roboto"/>
                          <a:ea typeface="Roboto"/>
                          <a:cs typeface="Roboto"/>
                          <a:sym typeface="Roboto"/>
                        </a:rPr>
                        <a:t>FAIL</a:t>
                      </a:r>
                      <a:endParaRPr b="1" sz="900">
                        <a:solidFill>
                          <a:srgbClr val="990011"/>
                        </a:solidFill>
                        <a:latin typeface="Roboto"/>
                        <a:ea typeface="Roboto"/>
                        <a:cs typeface="Roboto"/>
                        <a:sym typeface="Roboto"/>
                      </a:endParaRPr>
                    </a:p>
                  </a:txBody>
                  <a:tcPr marT="91425" marB="91425" marR="91425" marL="91425">
                    <a:solidFill>
                      <a:srgbClr val="FFFFFF"/>
                    </a:solidFill>
                  </a:tcPr>
                </a:tc>
              </a:tr>
              <a:tr h="408225">
                <a:tc>
                  <a:txBody>
                    <a:bodyPr/>
                    <a:lstStyle/>
                    <a:p>
                      <a:pPr indent="0" lvl="0" marL="0" rtl="0" algn="l">
                        <a:spcBef>
                          <a:spcPts val="0"/>
                        </a:spcBef>
                        <a:spcAft>
                          <a:spcPts val="0"/>
                        </a:spcAft>
                        <a:buNone/>
                      </a:pPr>
                      <a:r>
                        <a:rPr b="1" lang="en-GB" sz="900">
                          <a:solidFill>
                            <a:srgbClr val="FFFFFF"/>
                          </a:solidFill>
                          <a:latin typeface="Roboto"/>
                          <a:ea typeface="Roboto"/>
                          <a:cs typeface="Roboto"/>
                          <a:sym typeface="Roboto"/>
                        </a:rPr>
                        <a:t>5. Proposed HRVP-PINN + DS-TCN-XL</a:t>
                      </a:r>
                      <a:endParaRPr b="1" sz="900">
                        <a:solidFill>
                          <a:srgbClr val="FFFFFF"/>
                        </a:solidFill>
                        <a:latin typeface="Roboto"/>
                        <a:ea typeface="Roboto"/>
                        <a:cs typeface="Roboto"/>
                        <a:sym typeface="Roboto"/>
                      </a:endParaRPr>
                    </a:p>
                  </a:txBody>
                  <a:tcPr marT="91425" marB="91425" marR="91425" marL="91425">
                    <a:solidFill>
                      <a:srgbClr val="028090"/>
                    </a:solidFill>
                  </a:tcPr>
                </a:tc>
                <a:tc>
                  <a:txBody>
                    <a:bodyPr/>
                    <a:lstStyle/>
                    <a:p>
                      <a:pPr indent="0" lvl="0" marL="0" rtl="0" algn="l">
                        <a:spcBef>
                          <a:spcPts val="0"/>
                        </a:spcBef>
                        <a:spcAft>
                          <a:spcPts val="0"/>
                        </a:spcAft>
                        <a:buNone/>
                      </a:pPr>
                      <a:r>
                        <a:rPr b="1" lang="en-GB" sz="900">
                          <a:solidFill>
                            <a:srgbClr val="FFFFFF"/>
                          </a:solidFill>
                          <a:latin typeface="Roboto"/>
                          <a:ea typeface="Roboto"/>
                          <a:cs typeface="Roboto"/>
                          <a:sym typeface="Roboto"/>
                        </a:rPr>
                        <a:t>3.74 mmHg</a:t>
                      </a:r>
                      <a:endParaRPr b="1" sz="900">
                        <a:solidFill>
                          <a:srgbClr val="FFFFFF"/>
                        </a:solidFill>
                        <a:latin typeface="Roboto"/>
                        <a:ea typeface="Roboto"/>
                        <a:cs typeface="Roboto"/>
                        <a:sym typeface="Roboto"/>
                      </a:endParaRPr>
                    </a:p>
                  </a:txBody>
                  <a:tcPr marT="91425" marB="91425" marR="91425" marL="91425">
                    <a:solidFill>
                      <a:srgbClr val="028090"/>
                    </a:solidFill>
                  </a:tcPr>
                </a:tc>
                <a:tc>
                  <a:txBody>
                    <a:bodyPr/>
                    <a:lstStyle/>
                    <a:p>
                      <a:pPr indent="0" lvl="0" marL="0" rtl="0" algn="l">
                        <a:spcBef>
                          <a:spcPts val="0"/>
                        </a:spcBef>
                        <a:spcAft>
                          <a:spcPts val="0"/>
                        </a:spcAft>
                        <a:buNone/>
                      </a:pPr>
                      <a:r>
                        <a:rPr b="1" lang="en-GB" sz="900">
                          <a:solidFill>
                            <a:srgbClr val="FFFFFF"/>
                          </a:solidFill>
                          <a:latin typeface="Roboto"/>
                          <a:ea typeface="Roboto"/>
                          <a:cs typeface="Roboto"/>
                          <a:sym typeface="Roboto"/>
                        </a:rPr>
                        <a:t>3.15 mmHg</a:t>
                      </a:r>
                      <a:endParaRPr b="1" sz="900">
                        <a:solidFill>
                          <a:srgbClr val="FFFFFF"/>
                        </a:solidFill>
                        <a:latin typeface="Roboto"/>
                        <a:ea typeface="Roboto"/>
                        <a:cs typeface="Roboto"/>
                        <a:sym typeface="Roboto"/>
                      </a:endParaRPr>
                    </a:p>
                  </a:txBody>
                  <a:tcPr marT="91425" marB="91425" marR="91425" marL="91425">
                    <a:solidFill>
                      <a:srgbClr val="028090"/>
                    </a:solidFill>
                  </a:tcPr>
                </a:tc>
                <a:tc>
                  <a:txBody>
                    <a:bodyPr/>
                    <a:lstStyle/>
                    <a:p>
                      <a:pPr indent="0" lvl="0" marL="0" rtl="0" algn="l">
                        <a:spcBef>
                          <a:spcPts val="0"/>
                        </a:spcBef>
                        <a:spcAft>
                          <a:spcPts val="0"/>
                        </a:spcAft>
                        <a:buNone/>
                      </a:pPr>
                      <a:r>
                        <a:rPr b="1" lang="en-GB" sz="900">
                          <a:solidFill>
                            <a:srgbClr val="FFFFFF"/>
                          </a:solidFill>
                          <a:latin typeface="Roboto"/>
                          <a:ea typeface="Roboto"/>
                          <a:cs typeface="Roboto"/>
                          <a:sym typeface="Roboto"/>
                        </a:rPr>
                        <a:t>4.50 / 3.63</a:t>
                      </a:r>
                      <a:endParaRPr b="1" sz="900">
                        <a:solidFill>
                          <a:srgbClr val="FFFFFF"/>
                        </a:solidFill>
                        <a:latin typeface="Roboto"/>
                        <a:ea typeface="Roboto"/>
                        <a:cs typeface="Roboto"/>
                        <a:sym typeface="Roboto"/>
                      </a:endParaRPr>
                    </a:p>
                  </a:txBody>
                  <a:tcPr marT="91425" marB="91425" marR="91425" marL="91425">
                    <a:solidFill>
                      <a:srgbClr val="028090"/>
                    </a:solidFill>
                  </a:tcPr>
                </a:tc>
                <a:tc>
                  <a:txBody>
                    <a:bodyPr/>
                    <a:lstStyle/>
                    <a:p>
                      <a:pPr indent="0" lvl="0" marL="0" rtl="0" algn="l">
                        <a:spcBef>
                          <a:spcPts val="0"/>
                        </a:spcBef>
                        <a:spcAft>
                          <a:spcPts val="0"/>
                        </a:spcAft>
                        <a:buNone/>
                      </a:pPr>
                      <a:r>
                        <a:rPr b="1" lang="en-GB" sz="900">
                          <a:solidFill>
                            <a:srgbClr val="FFFFFF"/>
                          </a:solidFill>
                          <a:latin typeface="Roboto"/>
                          <a:ea typeface="Roboto"/>
                          <a:cs typeface="Roboto"/>
                          <a:sym typeface="Roboto"/>
                        </a:rPr>
                        <a:t>0.9829 (Var=0.835)</a:t>
                      </a:r>
                      <a:endParaRPr b="1" sz="900">
                        <a:solidFill>
                          <a:srgbClr val="FFFFFF"/>
                        </a:solidFill>
                        <a:latin typeface="Roboto"/>
                        <a:ea typeface="Roboto"/>
                        <a:cs typeface="Roboto"/>
                        <a:sym typeface="Roboto"/>
                      </a:endParaRPr>
                    </a:p>
                  </a:txBody>
                  <a:tcPr marT="91425" marB="91425" marR="91425" marL="91425">
                    <a:solidFill>
                      <a:srgbClr val="028090"/>
                    </a:solidFill>
                  </a:tcPr>
                </a:tc>
                <a:tc>
                  <a:txBody>
                    <a:bodyPr/>
                    <a:lstStyle/>
                    <a:p>
                      <a:pPr indent="0" lvl="0" marL="0" rtl="0" algn="l">
                        <a:spcBef>
                          <a:spcPts val="0"/>
                        </a:spcBef>
                        <a:spcAft>
                          <a:spcPts val="0"/>
                        </a:spcAft>
                        <a:buNone/>
                      </a:pPr>
                      <a:r>
                        <a:rPr b="1" lang="en-GB" sz="900">
                          <a:solidFill>
                            <a:srgbClr val="FFFFFF"/>
                          </a:solidFill>
                          <a:latin typeface="Roboto"/>
                          <a:ea typeface="Roboto"/>
                          <a:cs typeface="Roboto"/>
                          <a:sym typeface="Roboto"/>
                        </a:rPr>
                        <a:t>Grade A</a:t>
                      </a:r>
                      <a:endParaRPr b="1" sz="900">
                        <a:solidFill>
                          <a:srgbClr val="FFFFFF"/>
                        </a:solidFill>
                        <a:latin typeface="Roboto"/>
                        <a:ea typeface="Roboto"/>
                        <a:cs typeface="Roboto"/>
                        <a:sym typeface="Roboto"/>
                      </a:endParaRPr>
                    </a:p>
                  </a:txBody>
                  <a:tcPr marT="91425" marB="91425" marR="91425" marL="91425">
                    <a:solidFill>
                      <a:srgbClr val="028090"/>
                    </a:solidFill>
                  </a:tcPr>
                </a:tc>
                <a:tc>
                  <a:txBody>
                    <a:bodyPr/>
                    <a:lstStyle/>
                    <a:p>
                      <a:pPr indent="0" lvl="0" marL="0" rtl="0" algn="l">
                        <a:spcBef>
                          <a:spcPts val="0"/>
                        </a:spcBef>
                        <a:spcAft>
                          <a:spcPts val="0"/>
                        </a:spcAft>
                        <a:buNone/>
                      </a:pPr>
                      <a:r>
                        <a:rPr b="1" lang="en-GB" sz="900">
                          <a:solidFill>
                            <a:srgbClr val="FFFFFF"/>
                          </a:solidFill>
                          <a:latin typeface="Roboto"/>
                          <a:ea typeface="Roboto"/>
                          <a:cs typeface="Roboto"/>
                          <a:sym typeface="Roboto"/>
                        </a:rPr>
                        <a:t>PASS</a:t>
                      </a:r>
                      <a:endParaRPr b="1" sz="900">
                        <a:solidFill>
                          <a:srgbClr val="FFFFFF"/>
                        </a:solidFill>
                        <a:latin typeface="Roboto"/>
                        <a:ea typeface="Roboto"/>
                        <a:cs typeface="Roboto"/>
                        <a:sym typeface="Roboto"/>
                      </a:endParaRPr>
                    </a:p>
                  </a:txBody>
                  <a:tcPr marT="91425" marB="91425" marR="91425" marL="91425">
                    <a:solidFill>
                      <a:srgbClr val="028090"/>
                    </a:solidFill>
                  </a:tcPr>
                </a:tc>
              </a:tr>
            </a:tbl>
          </a:graphicData>
        </a:graphic>
      </p:graphicFrame>
      <p:sp>
        <p:nvSpPr>
          <p:cNvPr id="145" name="Google Shape;145;p19"/>
          <p:cNvSpPr txBox="1"/>
          <p:nvPr/>
        </p:nvSpPr>
        <p:spPr>
          <a:xfrm>
            <a:off x="444500" y="4470400"/>
            <a:ext cx="8255100" cy="431700"/>
          </a:xfrm>
          <a:prstGeom prst="rect">
            <a:avLst/>
          </a:prstGeom>
          <a:solidFill>
            <a:srgbClr val="DCE6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solidFill>
                  <a:srgbClr val="1E2761"/>
                </a:solidFill>
                <a:latin typeface="Roboto"/>
                <a:ea typeface="Roboto"/>
                <a:cs typeface="Roboto"/>
                <a:sym typeface="Roboto"/>
              </a:rPr>
              <a:t>2,000-Resample Bootstrap 95% CIs:  SBP MAE = 3.74 mmHg [3.25, 4.24] (&lt;=5.0)  |  DBP MAE = 3.15 mmHg [2.67, 3.62] (&lt;=3.5)  |  BHS SBP &lt;=5/10/15: 74% / 97% / 100%</a:t>
            </a:r>
            <a:endParaRPr b="1" sz="1000">
              <a:solidFill>
                <a:srgbClr val="1E2761"/>
              </a:solidFill>
              <a:latin typeface="Roboto"/>
              <a:ea typeface="Roboto"/>
              <a:cs typeface="Roboto"/>
              <a:sym typeface="Roboto"/>
            </a:endParaRPr>
          </a:p>
        </p:txBody>
      </p:sp>
      <p:sp>
        <p:nvSpPr>
          <p:cNvPr descr="Morphing top progress bar" id="146" name="!!morph_progress" title="!!morph_progress"/>
          <p:cNvSpPr/>
          <p:nvPr/>
        </p:nvSpPr>
        <p:spPr>
          <a:xfrm>
            <a:off x="152400" y="0"/>
            <a:ext cx="57213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147" name="!!morph_indicator" title="!!morph_indicator"/>
          <p:cNvSpPr/>
          <p:nvPr/>
        </p:nvSpPr>
        <p:spPr>
          <a:xfrm>
            <a:off x="0" y="280416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6 to Slide 7" id="148" name="!!morph_bridge_6" title="!!morph_bridge_6"/>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07. Unseen Test Benchmark</a:t>
            </a:r>
            <a:endParaRPr b="1" sz="750">
              <a:solidFill>
                <a:srgbClr val="FFFFFF"/>
              </a:solidFill>
              <a:latin typeface="Roboto"/>
              <a:ea typeface="Roboto"/>
              <a:cs typeface="Roboto"/>
              <a:sym typeface="Roboto"/>
            </a:endParaRPr>
          </a:p>
        </p:txBody>
      </p:sp>
      <p:sp>
        <p:nvSpPr>
          <p:cNvPr descr="Shifting part from Slide 7 to Slide 8" id="149" name="!!morph_bridge_7" title="!!morph_bridge_7"/>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08. Bland-Altman &amp; Subgroup Audit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20"/>
          <p:cNvSpPr/>
          <p:nvPr/>
        </p:nvSpPr>
        <p:spPr>
          <a:xfrm>
            <a:off x="0" y="0"/>
            <a:ext cx="152400" cy="51435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0"/>
          <p:cNvSpPr txBox="1"/>
          <p:nvPr/>
        </p:nvSpPr>
        <p:spPr>
          <a:xfrm>
            <a:off x="444500" y="203200"/>
            <a:ext cx="8318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1E2761"/>
                </a:solidFill>
                <a:latin typeface="Roboto"/>
                <a:ea typeface="Roboto"/>
                <a:cs typeface="Roboto"/>
                <a:sym typeface="Roboto"/>
              </a:rPr>
              <a:t>Bland-Altman Clinical Agreement &amp; Subpopulation Slices</a:t>
            </a:r>
            <a:endParaRPr b="1" sz="2000">
              <a:solidFill>
                <a:srgbClr val="1E2761"/>
              </a:solidFill>
              <a:latin typeface="Roboto"/>
              <a:ea typeface="Roboto"/>
              <a:cs typeface="Roboto"/>
              <a:sym typeface="Roboto"/>
            </a:endParaRPr>
          </a:p>
        </p:txBody>
      </p:sp>
      <p:sp>
        <p:nvSpPr>
          <p:cNvPr id="156" name="Google Shape;156;p20"/>
          <p:cNvSpPr txBox="1"/>
          <p:nvPr/>
        </p:nvSpPr>
        <p:spPr>
          <a:xfrm>
            <a:off x="444500" y="812800"/>
            <a:ext cx="3746400" cy="4065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Roboto"/>
                <a:ea typeface="Roboto"/>
                <a:cs typeface="Roboto"/>
                <a:sym typeface="Roboto"/>
              </a:rPr>
              <a:t>Multi-Domain &amp; Stage Slice Audit</a:t>
            </a:r>
            <a:endParaRPr b="1">
              <a:solidFill>
                <a:srgbClr val="FFFFFF"/>
              </a:solidFill>
              <a:latin typeface="Roboto"/>
              <a:ea typeface="Roboto"/>
              <a:cs typeface="Roboto"/>
              <a:sym typeface="Roboto"/>
            </a:endParaRPr>
          </a:p>
        </p:txBody>
      </p:sp>
      <p:sp>
        <p:nvSpPr>
          <p:cNvPr id="157" name="Google Shape;157;p20"/>
          <p:cNvSpPr txBox="1"/>
          <p:nvPr/>
        </p:nvSpPr>
        <p:spPr>
          <a:xfrm>
            <a:off x="444500" y="1219200"/>
            <a:ext cx="3746400" cy="3492600"/>
          </a:xfrm>
          <a:prstGeom prst="rect">
            <a:avLst/>
          </a:prstGeom>
          <a:solidFill>
            <a:srgbClr val="F4F6FA"/>
          </a:solidFill>
          <a:ln>
            <a:noFill/>
          </a:ln>
        </p:spPr>
        <p:txBody>
          <a:bodyPr anchorCtr="0" anchor="t" bIns="91425" lIns="91425" spcFirstLastPara="1" rIns="91425" wrap="square" tIns="91425">
            <a:noAutofit/>
          </a:bodyPr>
          <a:lstStyle/>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By Clinical BP Stage (Unseen Test):</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Normotensive (&lt;120): SBP MAE 3.95 | DBP 2.87 mmHg</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Prehypertensive (120-139): SBP MAE 3.13 | PTE 100%</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Hypertensive (&gt;=140): SBP MAE 3.82 | PTE 100%</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By Clinical Dataset Domain:</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PulseDB_MIMIC (Drive HDF5): SBP 4.18 | DBP 2.26</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PulseDB_Vital (Drive HDF5): SBP 2.25 | DBP 0.75</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PhysioNet Dual-Site PTT-PPG: SBP 4.73 | DBP 2.16</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VitalDB Hydrostatic Cohort: SBP 3.60 | DBP 3.35</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Feature Attribution:</a:t>
            </a:r>
            <a:endParaRPr sz="1100">
              <a:solidFill>
                <a:srgbClr val="1A1A2E"/>
              </a:solidFill>
              <a:latin typeface="Roboto"/>
              <a:ea typeface="Roboto"/>
              <a:cs typeface="Roboto"/>
              <a:sym typeface="Roboto"/>
            </a:endParaRPr>
          </a:p>
          <a:p>
            <a:pPr indent="0" lvl="0" marL="0" rtl="0" algn="l">
              <a:lnSpc>
                <a:spcPct val="128000"/>
              </a:lnSpc>
              <a:spcBef>
                <a:spcPts val="0"/>
              </a:spcBef>
              <a:spcAft>
                <a:spcPts val="0"/>
              </a:spcAft>
              <a:buNone/>
            </a:pPr>
            <a:r>
              <a:rPr lang="en-GB" sz="1100">
                <a:solidFill>
                  <a:srgbClr val="1A1A2E"/>
                </a:solidFill>
                <a:latin typeface="Roboto"/>
                <a:ea typeface="Roboto"/>
                <a:cs typeface="Roboto"/>
                <a:sym typeface="Roboto"/>
              </a:rPr>
              <a:t>• ePWV, Delta PTT, &amp; Delta P_hydro dominate sensitivity</a:t>
            </a:r>
            <a:endParaRPr sz="1100">
              <a:solidFill>
                <a:srgbClr val="1A1A2E"/>
              </a:solidFill>
              <a:latin typeface="Roboto"/>
              <a:ea typeface="Roboto"/>
              <a:cs typeface="Roboto"/>
              <a:sym typeface="Roboto"/>
            </a:endParaRPr>
          </a:p>
        </p:txBody>
      </p:sp>
      <p:pic>
        <p:nvPicPr>
          <p:cNvPr id="158" name="Google Shape;158;p20"/>
          <p:cNvPicPr preferRelativeResize="0"/>
          <p:nvPr/>
        </p:nvPicPr>
        <p:blipFill>
          <a:blip r:embed="rId3">
            <a:alphaModFix/>
          </a:blip>
          <a:stretch>
            <a:fillRect/>
          </a:stretch>
        </p:blipFill>
        <p:spPr>
          <a:xfrm>
            <a:off x="4381500" y="1046145"/>
            <a:ext cx="4318001" cy="3013111"/>
          </a:xfrm>
          <a:prstGeom prst="rect">
            <a:avLst/>
          </a:prstGeom>
          <a:noFill/>
          <a:ln>
            <a:noFill/>
          </a:ln>
        </p:spPr>
      </p:pic>
      <p:sp>
        <p:nvSpPr>
          <p:cNvPr descr="Morphing top progress bar" id="159" name="!!morph_progress" title="!!morph_progress"/>
          <p:cNvSpPr/>
          <p:nvPr/>
        </p:nvSpPr>
        <p:spPr>
          <a:xfrm>
            <a:off x="152400" y="0"/>
            <a:ext cx="65391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160" name="!!morph_indicator" title="!!morph_indicator"/>
          <p:cNvSpPr/>
          <p:nvPr/>
        </p:nvSpPr>
        <p:spPr>
          <a:xfrm>
            <a:off x="0" y="327152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7 to Slide 8" id="161" name="!!morph_bridge_7" title="!!morph_bridge_7"/>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08. Bland-Altman &amp; Subgroup Audit</a:t>
            </a:r>
            <a:endParaRPr b="1" sz="750">
              <a:solidFill>
                <a:srgbClr val="FFFFFF"/>
              </a:solidFill>
              <a:latin typeface="Roboto"/>
              <a:ea typeface="Roboto"/>
              <a:cs typeface="Roboto"/>
              <a:sym typeface="Roboto"/>
            </a:endParaRPr>
          </a:p>
        </p:txBody>
      </p:sp>
      <p:sp>
        <p:nvSpPr>
          <p:cNvPr descr="Shifting part from Slide 8 to Slide 9" id="162" name="!!morph_bridge_8" title="!!morph_bridge_8"/>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09. SM4450 INT8 Edge NPU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6" name="Shape 166"/>
        <p:cNvGrpSpPr/>
        <p:nvPr/>
      </p:nvGrpSpPr>
      <p:grpSpPr>
        <a:xfrm>
          <a:off x="0" y="0"/>
          <a:ext cx="0" cy="0"/>
          <a:chOff x="0" y="0"/>
          <a:chExt cx="0" cy="0"/>
        </a:xfrm>
      </p:grpSpPr>
      <p:sp>
        <p:nvSpPr>
          <p:cNvPr id="167" name="Google Shape;167;p21"/>
          <p:cNvSpPr/>
          <p:nvPr/>
        </p:nvSpPr>
        <p:spPr>
          <a:xfrm>
            <a:off x="0" y="0"/>
            <a:ext cx="152400"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1"/>
          <p:cNvSpPr txBox="1"/>
          <p:nvPr/>
        </p:nvSpPr>
        <p:spPr>
          <a:xfrm>
            <a:off x="444500" y="203200"/>
            <a:ext cx="8318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FFFFFF"/>
                </a:solidFill>
                <a:latin typeface="Roboto"/>
                <a:ea typeface="Roboto"/>
                <a:cs typeface="Roboto"/>
                <a:sym typeface="Roboto"/>
              </a:rPr>
              <a:t>Xiaomi Poco M6 Pro 5G (Snapdragon 4 Gen 2) INT8 Deployment</a:t>
            </a:r>
            <a:endParaRPr b="1" sz="2000">
              <a:solidFill>
                <a:srgbClr val="FFFFFF"/>
              </a:solidFill>
              <a:latin typeface="Roboto"/>
              <a:ea typeface="Roboto"/>
              <a:cs typeface="Roboto"/>
              <a:sym typeface="Roboto"/>
            </a:endParaRPr>
          </a:p>
        </p:txBody>
      </p:sp>
      <p:sp>
        <p:nvSpPr>
          <p:cNvPr id="169" name="Google Shape;169;p21"/>
          <p:cNvSpPr txBox="1"/>
          <p:nvPr/>
        </p:nvSpPr>
        <p:spPr>
          <a:xfrm>
            <a:off x="444500" y="787400"/>
            <a:ext cx="1905000" cy="558900"/>
          </a:xfrm>
          <a:prstGeom prst="rect">
            <a:avLst/>
          </a:prstGeom>
          <a:solidFill>
            <a:srgbClr val="2732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400">
                <a:solidFill>
                  <a:srgbClr val="02C39A"/>
                </a:solidFill>
                <a:latin typeface="Roboto"/>
                <a:ea typeface="Roboto"/>
                <a:cs typeface="Roboto"/>
                <a:sym typeface="Roboto"/>
              </a:rPr>
              <a:t>46.55 dB</a:t>
            </a:r>
            <a:endParaRPr b="1" sz="2400">
              <a:solidFill>
                <a:srgbClr val="02C39A"/>
              </a:solidFill>
              <a:latin typeface="Roboto"/>
              <a:ea typeface="Roboto"/>
              <a:cs typeface="Roboto"/>
              <a:sym typeface="Roboto"/>
            </a:endParaRPr>
          </a:p>
        </p:txBody>
      </p:sp>
      <p:sp>
        <p:nvSpPr>
          <p:cNvPr id="170" name="Google Shape;170;p21"/>
          <p:cNvSpPr txBox="1"/>
          <p:nvPr/>
        </p:nvSpPr>
        <p:spPr>
          <a:xfrm>
            <a:off x="444500" y="1346200"/>
            <a:ext cx="1905000" cy="482700"/>
          </a:xfrm>
          <a:prstGeom prst="rect">
            <a:avLst/>
          </a:prstGeom>
          <a:solidFill>
            <a:srgbClr val="151C4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CADCFC"/>
                </a:solidFill>
                <a:latin typeface="Roboto"/>
                <a:ea typeface="Roboto"/>
                <a:cs typeface="Roboto"/>
                <a:sym typeface="Roboto"/>
              </a:rPr>
              <a:t>Mean Weight SQNR</a:t>
            </a:r>
            <a:endParaRPr sz="1000">
              <a:solidFill>
                <a:srgbClr val="CADCFC"/>
              </a:solidFill>
              <a:latin typeface="Roboto"/>
              <a:ea typeface="Roboto"/>
              <a:cs typeface="Roboto"/>
              <a:sym typeface="Roboto"/>
            </a:endParaRPr>
          </a:p>
          <a:p>
            <a:pPr indent="0" lvl="0" marL="0" rtl="0" algn="ctr">
              <a:spcBef>
                <a:spcPts val="0"/>
              </a:spcBef>
              <a:spcAft>
                <a:spcPts val="0"/>
              </a:spcAft>
              <a:buNone/>
            </a:pPr>
            <a:r>
              <a:rPr lang="en-GB" sz="1000">
                <a:solidFill>
                  <a:srgbClr val="CADCFC"/>
                </a:solidFill>
                <a:latin typeface="Roboto"/>
                <a:ea typeface="Roboto"/>
                <a:cs typeface="Roboto"/>
                <a:sym typeface="Roboto"/>
              </a:rPr>
              <a:t>(0.00 mmHg SBP Drift)</a:t>
            </a:r>
            <a:endParaRPr sz="1000">
              <a:solidFill>
                <a:srgbClr val="CADCFC"/>
              </a:solidFill>
              <a:latin typeface="Roboto"/>
              <a:ea typeface="Roboto"/>
              <a:cs typeface="Roboto"/>
              <a:sym typeface="Roboto"/>
            </a:endParaRPr>
          </a:p>
        </p:txBody>
      </p:sp>
      <p:sp>
        <p:nvSpPr>
          <p:cNvPr id="171" name="Google Shape;171;p21"/>
          <p:cNvSpPr txBox="1"/>
          <p:nvPr/>
        </p:nvSpPr>
        <p:spPr>
          <a:xfrm>
            <a:off x="2552700" y="787400"/>
            <a:ext cx="1905000" cy="558900"/>
          </a:xfrm>
          <a:prstGeom prst="rect">
            <a:avLst/>
          </a:prstGeom>
          <a:solidFill>
            <a:srgbClr val="2732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400">
                <a:solidFill>
                  <a:srgbClr val="02C39A"/>
                </a:solidFill>
                <a:latin typeface="Roboto"/>
                <a:ea typeface="Roboto"/>
                <a:cs typeface="Roboto"/>
                <a:sym typeface="Roboto"/>
              </a:rPr>
              <a:t>11.85 ms</a:t>
            </a:r>
            <a:endParaRPr b="1" sz="2400">
              <a:solidFill>
                <a:srgbClr val="02C39A"/>
              </a:solidFill>
              <a:latin typeface="Roboto"/>
              <a:ea typeface="Roboto"/>
              <a:cs typeface="Roboto"/>
              <a:sym typeface="Roboto"/>
            </a:endParaRPr>
          </a:p>
        </p:txBody>
      </p:sp>
      <p:sp>
        <p:nvSpPr>
          <p:cNvPr id="172" name="Google Shape;172;p21"/>
          <p:cNvSpPr txBox="1"/>
          <p:nvPr/>
        </p:nvSpPr>
        <p:spPr>
          <a:xfrm>
            <a:off x="2552700" y="1346200"/>
            <a:ext cx="1905000" cy="482700"/>
          </a:xfrm>
          <a:prstGeom prst="rect">
            <a:avLst/>
          </a:prstGeom>
          <a:solidFill>
            <a:srgbClr val="151C4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CADCFC"/>
                </a:solidFill>
                <a:latin typeface="Roboto"/>
                <a:ea typeface="Roboto"/>
                <a:cs typeface="Roboto"/>
                <a:sym typeface="Roboto"/>
              </a:rPr>
              <a:t>Host Latency (~1.8 ms</a:t>
            </a:r>
            <a:endParaRPr sz="1000">
              <a:solidFill>
                <a:srgbClr val="CADCFC"/>
              </a:solidFill>
              <a:latin typeface="Roboto"/>
              <a:ea typeface="Roboto"/>
              <a:cs typeface="Roboto"/>
              <a:sym typeface="Roboto"/>
            </a:endParaRPr>
          </a:p>
          <a:p>
            <a:pPr indent="0" lvl="0" marL="0" rtl="0" algn="ctr">
              <a:spcBef>
                <a:spcPts val="0"/>
              </a:spcBef>
              <a:spcAft>
                <a:spcPts val="0"/>
              </a:spcAft>
              <a:buNone/>
            </a:pPr>
            <a:r>
              <a:rPr lang="en-GB" sz="1000">
                <a:solidFill>
                  <a:srgbClr val="CADCFC"/>
                </a:solidFill>
                <a:latin typeface="Roboto"/>
                <a:ea typeface="Roboto"/>
                <a:cs typeface="Roboto"/>
                <a:sym typeface="Roboto"/>
              </a:rPr>
              <a:t>SM4450 Hexagon NPU)</a:t>
            </a:r>
            <a:endParaRPr sz="1000">
              <a:solidFill>
                <a:srgbClr val="CADCFC"/>
              </a:solidFill>
              <a:latin typeface="Roboto"/>
              <a:ea typeface="Roboto"/>
              <a:cs typeface="Roboto"/>
              <a:sym typeface="Roboto"/>
            </a:endParaRPr>
          </a:p>
        </p:txBody>
      </p:sp>
      <p:sp>
        <p:nvSpPr>
          <p:cNvPr id="173" name="Google Shape;173;p21"/>
          <p:cNvSpPr txBox="1"/>
          <p:nvPr/>
        </p:nvSpPr>
        <p:spPr>
          <a:xfrm>
            <a:off x="4673600" y="787400"/>
            <a:ext cx="1905000" cy="558900"/>
          </a:xfrm>
          <a:prstGeom prst="rect">
            <a:avLst/>
          </a:prstGeom>
          <a:solidFill>
            <a:srgbClr val="2732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400">
                <a:solidFill>
                  <a:srgbClr val="02C39A"/>
                </a:solidFill>
                <a:latin typeface="Roboto"/>
                <a:ea typeface="Roboto"/>
                <a:cs typeface="Roboto"/>
                <a:sym typeface="Roboto"/>
              </a:rPr>
              <a:t>9.60 MB</a:t>
            </a:r>
            <a:endParaRPr b="1" sz="2400">
              <a:solidFill>
                <a:srgbClr val="02C39A"/>
              </a:solidFill>
              <a:latin typeface="Roboto"/>
              <a:ea typeface="Roboto"/>
              <a:cs typeface="Roboto"/>
              <a:sym typeface="Roboto"/>
            </a:endParaRPr>
          </a:p>
        </p:txBody>
      </p:sp>
      <p:sp>
        <p:nvSpPr>
          <p:cNvPr id="174" name="Google Shape;174;p21"/>
          <p:cNvSpPr txBox="1"/>
          <p:nvPr/>
        </p:nvSpPr>
        <p:spPr>
          <a:xfrm>
            <a:off x="4673600" y="1346200"/>
            <a:ext cx="1905000" cy="482700"/>
          </a:xfrm>
          <a:prstGeom prst="rect">
            <a:avLst/>
          </a:prstGeom>
          <a:solidFill>
            <a:srgbClr val="151C4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CADCFC"/>
                </a:solidFill>
                <a:latin typeface="Roboto"/>
                <a:ea typeface="Roboto"/>
                <a:cs typeface="Roboto"/>
                <a:sym typeface="Roboto"/>
              </a:rPr>
              <a:t>Peak Runtime RAM</a:t>
            </a:r>
            <a:endParaRPr sz="1000">
              <a:solidFill>
                <a:srgbClr val="CADCFC"/>
              </a:solidFill>
              <a:latin typeface="Roboto"/>
              <a:ea typeface="Roboto"/>
              <a:cs typeface="Roboto"/>
              <a:sym typeface="Roboto"/>
            </a:endParaRPr>
          </a:p>
          <a:p>
            <a:pPr indent="0" lvl="0" marL="0" rtl="0" algn="ctr">
              <a:spcBef>
                <a:spcPts val="0"/>
              </a:spcBef>
              <a:spcAft>
                <a:spcPts val="0"/>
              </a:spcAft>
              <a:buNone/>
            </a:pPr>
            <a:r>
              <a:rPr lang="en-GB" sz="1000">
                <a:solidFill>
                  <a:srgbClr val="CADCFC"/>
                </a:solidFill>
                <a:latin typeface="Roboto"/>
                <a:ea typeface="Roboto"/>
                <a:cs typeface="Roboto"/>
                <a:sym typeface="Roboto"/>
              </a:rPr>
              <a:t>(Budget &lt;= 20.0 MB)</a:t>
            </a:r>
            <a:endParaRPr sz="1000">
              <a:solidFill>
                <a:srgbClr val="CADCFC"/>
              </a:solidFill>
              <a:latin typeface="Roboto"/>
              <a:ea typeface="Roboto"/>
              <a:cs typeface="Roboto"/>
              <a:sym typeface="Roboto"/>
            </a:endParaRPr>
          </a:p>
        </p:txBody>
      </p:sp>
      <p:sp>
        <p:nvSpPr>
          <p:cNvPr id="175" name="Google Shape;175;p21"/>
          <p:cNvSpPr txBox="1"/>
          <p:nvPr/>
        </p:nvSpPr>
        <p:spPr>
          <a:xfrm>
            <a:off x="6794500" y="787400"/>
            <a:ext cx="1905000" cy="558900"/>
          </a:xfrm>
          <a:prstGeom prst="rect">
            <a:avLst/>
          </a:prstGeom>
          <a:solidFill>
            <a:srgbClr val="2732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400">
                <a:solidFill>
                  <a:srgbClr val="02C39A"/>
                </a:solidFill>
                <a:latin typeface="Roboto"/>
                <a:ea typeface="Roboto"/>
                <a:cs typeface="Roboto"/>
                <a:sym typeface="Roboto"/>
              </a:rPr>
              <a:t>0 Leaks</a:t>
            </a:r>
            <a:endParaRPr b="1" sz="2400">
              <a:solidFill>
                <a:srgbClr val="02C39A"/>
              </a:solidFill>
              <a:latin typeface="Roboto"/>
              <a:ea typeface="Roboto"/>
              <a:cs typeface="Roboto"/>
              <a:sym typeface="Roboto"/>
            </a:endParaRPr>
          </a:p>
        </p:txBody>
      </p:sp>
      <p:sp>
        <p:nvSpPr>
          <p:cNvPr id="176" name="Google Shape;176;p21"/>
          <p:cNvSpPr txBox="1"/>
          <p:nvPr/>
        </p:nvSpPr>
        <p:spPr>
          <a:xfrm>
            <a:off x="6794500" y="1346200"/>
            <a:ext cx="1905000" cy="482700"/>
          </a:xfrm>
          <a:prstGeom prst="rect">
            <a:avLst/>
          </a:prstGeom>
          <a:solidFill>
            <a:srgbClr val="151C4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CADCFC"/>
                </a:solidFill>
                <a:latin typeface="Roboto"/>
                <a:ea typeface="Roboto"/>
                <a:cs typeface="Roboto"/>
                <a:sym typeface="Roboto"/>
              </a:rPr>
              <a:t>1,000-Run Static Buffer</a:t>
            </a:r>
            <a:endParaRPr sz="1000">
              <a:solidFill>
                <a:srgbClr val="CADCFC"/>
              </a:solidFill>
              <a:latin typeface="Roboto"/>
              <a:ea typeface="Roboto"/>
              <a:cs typeface="Roboto"/>
              <a:sym typeface="Roboto"/>
            </a:endParaRPr>
          </a:p>
          <a:p>
            <a:pPr indent="0" lvl="0" marL="0" rtl="0" algn="ctr">
              <a:spcBef>
                <a:spcPts val="0"/>
              </a:spcBef>
              <a:spcAft>
                <a:spcPts val="0"/>
              </a:spcAft>
              <a:buNone/>
            </a:pPr>
            <a:r>
              <a:rPr lang="en-GB" sz="1000">
                <a:solidFill>
                  <a:srgbClr val="CADCFC"/>
                </a:solidFill>
                <a:latin typeface="Roboto"/>
                <a:ea typeface="Roboto"/>
                <a:cs typeface="Roboto"/>
                <a:sym typeface="Roboto"/>
              </a:rPr>
              <a:t>Pointer Invariance</a:t>
            </a:r>
            <a:endParaRPr sz="1000">
              <a:solidFill>
                <a:srgbClr val="CADCFC"/>
              </a:solidFill>
              <a:latin typeface="Roboto"/>
              <a:ea typeface="Roboto"/>
              <a:cs typeface="Roboto"/>
              <a:sym typeface="Roboto"/>
            </a:endParaRPr>
          </a:p>
        </p:txBody>
      </p:sp>
      <p:pic>
        <p:nvPicPr>
          <p:cNvPr id="177" name="Google Shape;177;p21"/>
          <p:cNvPicPr preferRelativeResize="0"/>
          <p:nvPr/>
        </p:nvPicPr>
        <p:blipFill>
          <a:blip r:embed="rId3">
            <a:alphaModFix/>
          </a:blip>
          <a:stretch>
            <a:fillRect/>
          </a:stretch>
        </p:blipFill>
        <p:spPr>
          <a:xfrm>
            <a:off x="444500" y="2049736"/>
            <a:ext cx="8255001" cy="2529927"/>
          </a:xfrm>
          <a:prstGeom prst="rect">
            <a:avLst/>
          </a:prstGeom>
          <a:noFill/>
          <a:ln>
            <a:noFill/>
          </a:ln>
        </p:spPr>
      </p:pic>
      <p:sp>
        <p:nvSpPr>
          <p:cNvPr descr="Morphing top progress bar" id="178" name="!!morph_progress" title="!!morph_progress"/>
          <p:cNvSpPr/>
          <p:nvPr/>
        </p:nvSpPr>
        <p:spPr>
          <a:xfrm>
            <a:off x="152400" y="0"/>
            <a:ext cx="73572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179" name="!!morph_indicator" title="!!morph_indicator"/>
          <p:cNvSpPr/>
          <p:nvPr/>
        </p:nvSpPr>
        <p:spPr>
          <a:xfrm>
            <a:off x="0" y="373888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8 to Slide 9" id="180" name="!!morph_bridge_8" title="!!morph_bridge_8"/>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09. SM4450 INT8 Edge NPU</a:t>
            </a:r>
            <a:endParaRPr b="1" sz="750">
              <a:solidFill>
                <a:srgbClr val="FFFFFF"/>
              </a:solidFill>
              <a:latin typeface="Roboto"/>
              <a:ea typeface="Roboto"/>
              <a:cs typeface="Roboto"/>
              <a:sym typeface="Roboto"/>
            </a:endParaRPr>
          </a:p>
        </p:txBody>
      </p:sp>
      <p:sp>
        <p:nvSpPr>
          <p:cNvPr descr="Shifting part from Slide 9 to Slide 10" id="181" name="!!morph_bridge_9" title="!!morph_bridge_9"/>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10. Cloud BigQuery AI/ML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85" name="Shape 185"/>
        <p:cNvGrpSpPr/>
        <p:nvPr/>
      </p:nvGrpSpPr>
      <p:grpSpPr>
        <a:xfrm>
          <a:off x="0" y="0"/>
          <a:ext cx="0" cy="0"/>
          <a:chOff x="0" y="0"/>
          <a:chExt cx="0" cy="0"/>
        </a:xfrm>
      </p:grpSpPr>
      <p:sp>
        <p:nvSpPr>
          <p:cNvPr id="186" name="Google Shape;186;p22"/>
          <p:cNvSpPr/>
          <p:nvPr/>
        </p:nvSpPr>
        <p:spPr>
          <a:xfrm>
            <a:off x="0" y="0"/>
            <a:ext cx="152400" cy="51435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2"/>
          <p:cNvSpPr txBox="1"/>
          <p:nvPr/>
        </p:nvSpPr>
        <p:spPr>
          <a:xfrm>
            <a:off x="444500" y="228600"/>
            <a:ext cx="83184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1E2761"/>
                </a:solidFill>
                <a:latin typeface="Roboto"/>
                <a:ea typeface="Roboto"/>
                <a:cs typeface="Roboto"/>
                <a:sym typeface="Roboto"/>
              </a:rPr>
              <a:t>Cloud Lakehouse &amp; Native BigQuery AI/ML Integration</a:t>
            </a:r>
            <a:endParaRPr b="1" sz="2000">
              <a:solidFill>
                <a:srgbClr val="1E2761"/>
              </a:solidFill>
              <a:latin typeface="Roboto"/>
              <a:ea typeface="Roboto"/>
              <a:cs typeface="Roboto"/>
              <a:sym typeface="Roboto"/>
            </a:endParaRPr>
          </a:p>
        </p:txBody>
      </p:sp>
      <p:sp>
        <p:nvSpPr>
          <p:cNvPr id="188" name="Google Shape;188;p22"/>
          <p:cNvSpPr txBox="1"/>
          <p:nvPr/>
        </p:nvSpPr>
        <p:spPr>
          <a:xfrm>
            <a:off x="444500" y="711200"/>
            <a:ext cx="8318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4A5568"/>
                </a:solidFill>
                <a:latin typeface="Roboto"/>
                <a:ea typeface="Roboto"/>
                <a:cs typeface="Roboto"/>
                <a:sym typeface="Roboto"/>
              </a:rPr>
              <a:t>End-to-end longitudinal population analytics and anomaly screening via %%bqsql in Google Colab.</a:t>
            </a:r>
            <a:endParaRPr sz="1300">
              <a:solidFill>
                <a:srgbClr val="4A5568"/>
              </a:solidFill>
              <a:latin typeface="Roboto"/>
              <a:ea typeface="Roboto"/>
              <a:cs typeface="Roboto"/>
              <a:sym typeface="Roboto"/>
            </a:endParaRPr>
          </a:p>
        </p:txBody>
      </p:sp>
      <p:sp>
        <p:nvSpPr>
          <p:cNvPr id="189" name="Google Shape;189;p22"/>
          <p:cNvSpPr txBox="1"/>
          <p:nvPr/>
        </p:nvSpPr>
        <p:spPr>
          <a:xfrm>
            <a:off x="444500" y="1206500"/>
            <a:ext cx="2603400" cy="4572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Roboto"/>
                <a:ea typeface="Roboto"/>
                <a:cs typeface="Roboto"/>
                <a:sym typeface="Roboto"/>
              </a:rPr>
              <a:t>1. Data Exploration &amp; Profiling</a:t>
            </a:r>
            <a:endParaRPr b="1" sz="1300">
              <a:solidFill>
                <a:srgbClr val="FFFFFF"/>
              </a:solidFill>
              <a:latin typeface="Roboto"/>
              <a:ea typeface="Roboto"/>
              <a:cs typeface="Roboto"/>
              <a:sym typeface="Roboto"/>
            </a:endParaRPr>
          </a:p>
        </p:txBody>
      </p:sp>
      <p:sp>
        <p:nvSpPr>
          <p:cNvPr id="190" name="Google Shape;190;p22"/>
          <p:cNvSpPr txBox="1"/>
          <p:nvPr/>
        </p:nvSpPr>
        <p:spPr>
          <a:xfrm>
            <a:off x="444500" y="1663700"/>
            <a:ext cx="2603400" cy="2476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Native %%bqsql BigFrames magics inside Google Colab</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Dataplex automated quality scans on GCS &amp; BigQuery tables</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ML.DESCRIBE_DATA summary across clinical_bp.vitaldb_pulsedb_cohort</a:t>
            </a:r>
            <a:endParaRPr sz="1200">
              <a:solidFill>
                <a:srgbClr val="1A1A2E"/>
              </a:solidFill>
              <a:latin typeface="Roboto"/>
              <a:ea typeface="Roboto"/>
              <a:cs typeface="Roboto"/>
              <a:sym typeface="Roboto"/>
            </a:endParaRPr>
          </a:p>
        </p:txBody>
      </p:sp>
      <p:sp>
        <p:nvSpPr>
          <p:cNvPr id="191" name="Google Shape;191;p22"/>
          <p:cNvSpPr txBox="1"/>
          <p:nvPr/>
        </p:nvSpPr>
        <p:spPr>
          <a:xfrm>
            <a:off x="3263900" y="1206500"/>
            <a:ext cx="2603400" cy="457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Roboto"/>
                <a:ea typeface="Roboto"/>
                <a:cs typeface="Roboto"/>
                <a:sym typeface="Roboto"/>
              </a:rPr>
              <a:t>2. Anomaly &amp; Driver Discovery</a:t>
            </a:r>
            <a:endParaRPr b="1" sz="1300">
              <a:solidFill>
                <a:srgbClr val="FFFFFF"/>
              </a:solidFill>
              <a:latin typeface="Roboto"/>
              <a:ea typeface="Roboto"/>
              <a:cs typeface="Roboto"/>
              <a:sym typeface="Roboto"/>
            </a:endParaRPr>
          </a:p>
        </p:txBody>
      </p:sp>
      <p:sp>
        <p:nvSpPr>
          <p:cNvPr id="192" name="Google Shape;192;p22"/>
          <p:cNvSpPr txBox="1"/>
          <p:nvPr/>
        </p:nvSpPr>
        <p:spPr>
          <a:xfrm>
            <a:off x="3263900" y="1663700"/>
            <a:ext cx="2603400" cy="2476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AI.DETECT_ANOMALIES screens hypertensive crises &amp; motion spikes</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AI.KEY_DRIVERS TVF ranks physiological drivers of SBP error</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Zero local Pandas memory bottlenecks on 5.2M segments</a:t>
            </a:r>
            <a:endParaRPr sz="1200">
              <a:solidFill>
                <a:srgbClr val="1A1A2E"/>
              </a:solidFill>
              <a:latin typeface="Roboto"/>
              <a:ea typeface="Roboto"/>
              <a:cs typeface="Roboto"/>
              <a:sym typeface="Roboto"/>
            </a:endParaRPr>
          </a:p>
        </p:txBody>
      </p:sp>
      <p:sp>
        <p:nvSpPr>
          <p:cNvPr id="193" name="Google Shape;193;p22"/>
          <p:cNvSpPr txBox="1"/>
          <p:nvPr/>
        </p:nvSpPr>
        <p:spPr>
          <a:xfrm>
            <a:off x="6096000" y="1206500"/>
            <a:ext cx="2603400" cy="4572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Roboto"/>
                <a:ea typeface="Roboto"/>
                <a:cs typeface="Roboto"/>
                <a:sym typeface="Roboto"/>
              </a:rPr>
              <a:t>3. TimesFM BP Forecasting</a:t>
            </a:r>
            <a:endParaRPr b="1" sz="1300">
              <a:solidFill>
                <a:srgbClr val="FFFFFF"/>
              </a:solidFill>
              <a:latin typeface="Roboto"/>
              <a:ea typeface="Roboto"/>
              <a:cs typeface="Roboto"/>
              <a:sym typeface="Roboto"/>
            </a:endParaRPr>
          </a:p>
        </p:txBody>
      </p:sp>
      <p:sp>
        <p:nvSpPr>
          <p:cNvPr id="194" name="Google Shape;194;p22"/>
          <p:cNvSpPr txBox="1"/>
          <p:nvPr/>
        </p:nvSpPr>
        <p:spPr>
          <a:xfrm>
            <a:off x="6096000" y="1663700"/>
            <a:ext cx="2603400" cy="2476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Chronological split into Historical &amp; Evaluation windows</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AI.FORECAST (TimesFM) predicts 30-day ambulatory BP trends</a:t>
            </a:r>
            <a:endParaRPr sz="1200">
              <a:solidFill>
                <a:srgbClr val="1A1A2E"/>
              </a:solidFill>
              <a:latin typeface="Roboto"/>
              <a:ea typeface="Roboto"/>
              <a:cs typeface="Roboto"/>
              <a:sym typeface="Roboto"/>
            </a:endParaRPr>
          </a:p>
          <a:p>
            <a:pPr indent="0" lvl="0" marL="0" rtl="0" algn="l">
              <a:lnSpc>
                <a:spcPct val="140000"/>
              </a:lnSpc>
              <a:spcBef>
                <a:spcPts val="0"/>
              </a:spcBef>
              <a:spcAft>
                <a:spcPts val="0"/>
              </a:spcAft>
              <a:buNone/>
            </a:pPr>
            <a:r>
              <a:rPr lang="en-GB" sz="1200">
                <a:solidFill>
                  <a:srgbClr val="1A1A2E"/>
                </a:solidFill>
                <a:latin typeface="Roboto"/>
                <a:ea typeface="Roboto"/>
                <a:cs typeface="Roboto"/>
                <a:sym typeface="Roboto"/>
              </a:rPr>
              <a:t>• AI.EVALUATE quantifies longitudinal forecast accuracy</a:t>
            </a:r>
            <a:endParaRPr sz="1200">
              <a:solidFill>
                <a:srgbClr val="1A1A2E"/>
              </a:solidFill>
              <a:latin typeface="Roboto"/>
              <a:ea typeface="Roboto"/>
              <a:cs typeface="Roboto"/>
              <a:sym typeface="Roboto"/>
            </a:endParaRPr>
          </a:p>
        </p:txBody>
      </p:sp>
      <p:sp>
        <p:nvSpPr>
          <p:cNvPr id="195" name="Google Shape;195;p22"/>
          <p:cNvSpPr txBox="1"/>
          <p:nvPr/>
        </p:nvSpPr>
        <p:spPr>
          <a:xfrm>
            <a:off x="444500" y="4381500"/>
            <a:ext cx="8255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rgbClr val="1E2761"/>
                </a:solidFill>
                <a:latin typeface="Roboto"/>
                <a:ea typeface="Roboto"/>
                <a:cs typeface="Roboto"/>
                <a:sym typeface="Roboto"/>
              </a:rPr>
              <a:t>Ready for Live Execution: Authenticate via google.colab.auth.authenticate_user() and set your GCP Project ID in Section 10.</a:t>
            </a:r>
            <a:endParaRPr b="1" sz="1200">
              <a:solidFill>
                <a:srgbClr val="1E2761"/>
              </a:solidFill>
              <a:latin typeface="Roboto"/>
              <a:ea typeface="Roboto"/>
              <a:cs typeface="Roboto"/>
              <a:sym typeface="Roboto"/>
            </a:endParaRPr>
          </a:p>
        </p:txBody>
      </p:sp>
      <p:sp>
        <p:nvSpPr>
          <p:cNvPr descr="Morphing top progress bar" id="196" name="!!morph_progress" title="!!morph_progress"/>
          <p:cNvSpPr/>
          <p:nvPr/>
        </p:nvSpPr>
        <p:spPr>
          <a:xfrm>
            <a:off x="152400" y="0"/>
            <a:ext cx="81738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197" name="!!morph_indicator" title="!!morph_indicator"/>
          <p:cNvSpPr/>
          <p:nvPr/>
        </p:nvSpPr>
        <p:spPr>
          <a:xfrm>
            <a:off x="0" y="420624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9 to Slide 10" id="198" name="!!morph_bridge_9" title="!!morph_bridge_9"/>
          <p:cNvSpPr txBox="1"/>
          <p:nvPr/>
        </p:nvSpPr>
        <p:spPr>
          <a:xfrm>
            <a:off x="6540500" y="25400"/>
            <a:ext cx="2222400" cy="228600"/>
          </a:xfrm>
          <a:prstGeom prst="rect">
            <a:avLst/>
          </a:prstGeom>
          <a:solidFill>
            <a:srgbClr val="1B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 10. Cloud BigQuery AI/ML</a:t>
            </a:r>
            <a:endParaRPr b="1" sz="750">
              <a:solidFill>
                <a:srgbClr val="FFFFFF"/>
              </a:solidFill>
              <a:latin typeface="Roboto"/>
              <a:ea typeface="Roboto"/>
              <a:cs typeface="Roboto"/>
              <a:sym typeface="Roboto"/>
            </a:endParaRPr>
          </a:p>
        </p:txBody>
      </p:sp>
      <p:sp>
        <p:nvSpPr>
          <p:cNvPr descr="Shifting part from Slide 10 to Slide 11" id="199" name="!!morph_bridge_10" title="!!morph_bridge_10"/>
          <p:cNvSpPr txBox="1"/>
          <p:nvPr/>
        </p:nvSpPr>
        <p:spPr>
          <a:xfrm>
            <a:off x="6350000" y="4864100"/>
            <a:ext cx="2412900" cy="228600"/>
          </a:xfrm>
          <a:prstGeom prst="rect">
            <a:avLst/>
          </a:prstGeom>
          <a:solidFill>
            <a:srgbClr val="0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FFFFFF"/>
                </a:solidFill>
                <a:latin typeface="Roboto"/>
                <a:ea typeface="Roboto"/>
                <a:cs typeface="Roboto"/>
                <a:sym typeface="Roboto"/>
              </a:rPr>
              <a:t>Next: 11. Scientific Citations ↗</a:t>
            </a:r>
            <a:endParaRPr b="1" sz="75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03" name="Shape 203"/>
        <p:cNvGrpSpPr/>
        <p:nvPr/>
      </p:nvGrpSpPr>
      <p:grpSpPr>
        <a:xfrm>
          <a:off x="0" y="0"/>
          <a:ext cx="0" cy="0"/>
          <a:chOff x="0" y="0"/>
          <a:chExt cx="0" cy="0"/>
        </a:xfrm>
      </p:grpSpPr>
      <p:sp>
        <p:nvSpPr>
          <p:cNvPr id="204" name="Google Shape;204;p23"/>
          <p:cNvSpPr/>
          <p:nvPr/>
        </p:nvSpPr>
        <p:spPr>
          <a:xfrm>
            <a:off x="0" y="0"/>
            <a:ext cx="203100"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3"/>
          <p:cNvSpPr txBox="1"/>
          <p:nvPr/>
        </p:nvSpPr>
        <p:spPr>
          <a:xfrm>
            <a:off x="508000" y="228600"/>
            <a:ext cx="81915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FFFFFF"/>
                </a:solidFill>
                <a:latin typeface="Roboto"/>
                <a:ea typeface="Roboto"/>
                <a:cs typeface="Roboto"/>
                <a:sym typeface="Roboto"/>
              </a:rPr>
              <a:t>Scientific References, Datasets &amp; Regulatory Standards</a:t>
            </a:r>
            <a:endParaRPr b="1" sz="2000">
              <a:solidFill>
                <a:srgbClr val="FFFFFF"/>
              </a:solidFill>
              <a:latin typeface="Roboto"/>
              <a:ea typeface="Roboto"/>
              <a:cs typeface="Roboto"/>
              <a:sym typeface="Roboto"/>
            </a:endParaRPr>
          </a:p>
        </p:txBody>
      </p:sp>
      <p:sp>
        <p:nvSpPr>
          <p:cNvPr id="206" name="Google Shape;206;p23"/>
          <p:cNvSpPr txBox="1"/>
          <p:nvPr/>
        </p:nvSpPr>
        <p:spPr>
          <a:xfrm>
            <a:off x="508000" y="787400"/>
            <a:ext cx="8191500" cy="4000500"/>
          </a:xfrm>
          <a:prstGeom prst="rect">
            <a:avLst/>
          </a:prstGeom>
          <a:solidFill>
            <a:srgbClr val="151C48"/>
          </a:solidFill>
          <a:ln>
            <a:noFill/>
          </a:ln>
        </p:spPr>
        <p:txBody>
          <a:bodyPr anchorCtr="0" anchor="t" bIns="91425" lIns="91425" spcFirstLastPara="1" rIns="91425" wrap="square" tIns="91425">
            <a:noAutofit/>
          </a:bodyPr>
          <a:lstStyle/>
          <a:p>
            <a:pPr indent="0" lvl="0" marL="0" rtl="0" algn="l">
              <a:lnSpc>
                <a:spcPct val="122000"/>
              </a:lnSpc>
              <a:spcBef>
                <a:spcPts val="0"/>
              </a:spcBef>
              <a:spcAft>
                <a:spcPts val="0"/>
              </a:spcAft>
              <a:buNone/>
            </a:pPr>
            <a:r>
              <a:rPr lang="en-GB" sz="1100">
                <a:solidFill>
                  <a:srgbClr val="CADCFC"/>
                </a:solidFill>
                <a:latin typeface="Roboto"/>
                <a:ea typeface="Roboto"/>
                <a:cs typeface="Roboto"/>
                <a:sym typeface="Roboto"/>
              </a:rPr>
              <a:t>1. Wang, W., Mohseni, P., Kilgore, K. L., &amp; Najafizadeh, L. (2023). "PulseDB: A large, cleaned dataset based on MIMIC-III and VitalDB for benchmarking cuff-less blood pressure estimation methods." Frontiers in Digital Health, 4, 1090854. DOI: 10.3389/fdgth.2022.1090854.</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rPr lang="en-GB" sz="1100">
                <a:solidFill>
                  <a:srgbClr val="CADCFC"/>
                </a:solidFill>
                <a:latin typeface="Roboto"/>
                <a:ea typeface="Roboto"/>
                <a:cs typeface="Roboto"/>
                <a:sym typeface="Roboto"/>
              </a:rPr>
              <a:t>2. Mehrgardt, P., Khushi, M., Poon, S., &amp; Withana, A. (2022). "Pulse Transit Time PPG Dataset (version 1.1.0)." PhysioNet. DOI: 10.13026/jpan-6n92.</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rPr lang="en-GB" sz="1100">
                <a:solidFill>
                  <a:srgbClr val="CADCFC"/>
                </a:solidFill>
                <a:latin typeface="Roboto"/>
                <a:ea typeface="Roboto"/>
                <a:cs typeface="Roboto"/>
                <a:sym typeface="Roboto"/>
              </a:rPr>
              <a:t>3. Lee, H. C., Park, Y., Yoon, S. B., Yang, S. M., Park, D., &amp; Jung, C. W. (2022). "VitalDB, a high-fidelity multi-parameter vital signs database in surgical patients." Scientific Data, 9(1), 279. DOI: 10.1038/s41597-022-01411-5.</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rPr lang="en-GB" sz="1100">
                <a:solidFill>
                  <a:srgbClr val="CADCFC"/>
                </a:solidFill>
                <a:latin typeface="Roboto"/>
                <a:ea typeface="Roboto"/>
                <a:cs typeface="Roboto"/>
                <a:sym typeface="Roboto"/>
              </a:rPr>
              <a:t>4. Johnson, A. E., Pollard, T. J., Shen, L., et al. (2016). "MIMIC-III, a freely accessible critical care database." Scientific Data, 3, 160035. DOI: 10.1038/sdata.2016.35.</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rPr lang="en-GB" sz="1100">
                <a:solidFill>
                  <a:srgbClr val="CADCFC"/>
                </a:solidFill>
                <a:latin typeface="Roboto"/>
                <a:ea typeface="Roboto"/>
                <a:cs typeface="Roboto"/>
                <a:sym typeface="Roboto"/>
              </a:rPr>
              <a:t>5. Hughes, D. J., Babbs, C. F., Geddes, L. A., &amp; Bourland, J. D. (1979). "Measurements of Young's modulus of elasticity of the canine aorta with ultrasound." Ultrasonic Imaging, 1(4), 356-367. (Moens-Korteweg &amp; Hughes Exponential Arterial Stiffness Law).</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t/>
            </a:r>
            <a:endParaRPr sz="1100">
              <a:solidFill>
                <a:srgbClr val="CADCFC"/>
              </a:solidFill>
              <a:latin typeface="Roboto"/>
              <a:ea typeface="Roboto"/>
              <a:cs typeface="Roboto"/>
              <a:sym typeface="Roboto"/>
            </a:endParaRPr>
          </a:p>
          <a:p>
            <a:pPr indent="0" lvl="0" marL="0" rtl="0" algn="l">
              <a:lnSpc>
                <a:spcPct val="122000"/>
              </a:lnSpc>
              <a:spcBef>
                <a:spcPts val="0"/>
              </a:spcBef>
              <a:spcAft>
                <a:spcPts val="0"/>
              </a:spcAft>
              <a:buNone/>
            </a:pPr>
            <a:r>
              <a:rPr lang="en-GB" sz="1100">
                <a:solidFill>
                  <a:srgbClr val="CADCFC"/>
                </a:solidFill>
                <a:latin typeface="Roboto"/>
                <a:ea typeface="Roboto"/>
                <a:cs typeface="Roboto"/>
                <a:sym typeface="Roboto"/>
              </a:rPr>
              <a:t>6. ISO 81060-2:2018 / AAMI / IEEE Std 1708a-2019 &amp; O'Brien, E., et al. (1993). "The British Hypertension Society protocol for the evaluation of blood pressure measuring devices." Journal of Hypertension, 11(Suppl 2), S43-S62.</a:t>
            </a:r>
            <a:endParaRPr sz="1100">
              <a:solidFill>
                <a:srgbClr val="CADCFC"/>
              </a:solidFill>
              <a:latin typeface="Roboto"/>
              <a:ea typeface="Roboto"/>
              <a:cs typeface="Roboto"/>
              <a:sym typeface="Roboto"/>
            </a:endParaRPr>
          </a:p>
        </p:txBody>
      </p:sp>
      <p:sp>
        <p:nvSpPr>
          <p:cNvPr descr="Morphing top progress bar" id="207" name="!!morph_progress" title="!!morph_progress"/>
          <p:cNvSpPr/>
          <p:nvPr/>
        </p:nvSpPr>
        <p:spPr>
          <a:xfrm>
            <a:off x="152400" y="0"/>
            <a:ext cx="8991600" cy="507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Morphing left vertical focus block" id="208" name="!!morph_indicator" title="!!morph_indicator"/>
          <p:cNvSpPr/>
          <p:nvPr/>
        </p:nvSpPr>
        <p:spPr>
          <a:xfrm>
            <a:off x="0" y="4673600"/>
            <a:ext cx="152400" cy="467400"/>
          </a:xfrm>
          <a:prstGeom prst="rect">
            <a:avLst/>
          </a:prstGeom>
          <a:solidFill>
            <a:srgbClr val="02C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descr="Shifted part from Slide 10 to Slide 11" id="209" name="!!morph_bridge_10" title="!!morph_bridge_10"/>
          <p:cNvSpPr txBox="1"/>
          <p:nvPr/>
        </p:nvSpPr>
        <p:spPr>
          <a:xfrm>
            <a:off x="6540500" y="25400"/>
            <a:ext cx="2222400" cy="228600"/>
          </a:xfrm>
          <a:prstGeom prst="rect">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750">
                <a:solidFill>
                  <a:srgbClr val="38BDF8"/>
                </a:solidFill>
                <a:latin typeface="Roboto"/>
                <a:ea typeface="Roboto"/>
                <a:cs typeface="Roboto"/>
                <a:sym typeface="Roboto"/>
              </a:rPr>
              <a:t>● 11. Scientific Citations</a:t>
            </a:r>
            <a:endParaRPr b="1" sz="750">
              <a:solidFill>
                <a:srgbClr val="38BDF8"/>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med" p14:dur="750">
        <p159:morph option="byObject"/>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